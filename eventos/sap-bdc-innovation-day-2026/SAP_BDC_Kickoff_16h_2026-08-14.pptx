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217920"/>
            <a:ext cx="12188952" cy="640080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</a:rPr>
              <a:t>Kick Off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774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5A800"/>
                </a:solidFill>
              </a:rPr>
              <a:t>SAP Innovation Day | Data Foundation First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9260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FFFFFF"/>
                </a:solidFill>
              </a:rPr>
              <a:t>Antes da IA, vêm os dados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CCCC"/>
                </a:solidFill>
              </a:rPr>
              <a:t>Reunião de kick off — 14/08 · 16h  |  Evento em 26/08 · SAP Brasil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2F6C"/>
                </a:solidFill>
              </a:rPr>
              <a:t>solveplan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A800"/>
                </a:solidFill>
              </a:rPr>
              <a:t>1. ABERTURA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02F6C"/>
                </a:solidFill>
              </a:rPr>
              <a:t>Visão Geral do Evento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2011680" cy="36576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2F6C"/>
                </a:solidFill>
              </a:rPr>
              <a:t>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68880" y="1371600"/>
            <a:ext cx="8686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44444"/>
                </a:solidFill>
              </a:rPr>
              <a:t>26/08 · 08h30 às 12h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9456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2F6C"/>
                </a:solidFill>
              </a:rPr>
              <a:t>Local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194560"/>
            <a:ext cx="8686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44444"/>
                </a:solidFill>
              </a:rPr>
              <a:t>SAP Brasil — Av. das Nações Unidas, 14171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0175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2F6C"/>
                </a:solidFill>
              </a:rPr>
              <a:t>Tema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0" y="3017520"/>
            <a:ext cx="8686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44444"/>
                </a:solidFill>
              </a:rPr>
              <a:t>SAP Business Data Cloud com 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8404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2F6C"/>
                </a:solidFill>
              </a:rPr>
              <a:t>Case de sucesso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68880" y="3840480"/>
            <a:ext cx="8686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44444"/>
                </a:solidFill>
              </a:rPr>
              <a:t>✅ SSA Alimentos — apresentado por Rodrigo Dumont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66344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2F6C"/>
                </a:solidFill>
              </a:rPr>
              <a:t>Público-alvo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8880" y="4663440"/>
            <a:ext cx="8686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44444"/>
                </a:solidFill>
              </a:rPr>
              <a:t>50/60 pessoas convidadas (considerando quebra)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4864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2F6C"/>
                </a:solidFill>
              </a:rPr>
              <a:t>Objetivo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68880" y="5486400"/>
            <a:ext cx="8686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44444"/>
                </a:solidFill>
              </a:rPr>
              <a:t>Gerar demanda qualificada para SAP BDC, aproximar contas
estratégicas (+R$800M/ano) e converter em reunião/diagnóstico/PoC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A800"/>
                </a:solidFill>
              </a:rPr>
              <a:t>2. METAS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02F6C"/>
                </a:solidFill>
              </a:rPr>
              <a:t>Metas do Evento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2011680" cy="36576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463040"/>
            <a:ext cx="2560320" cy="1371600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120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24028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Inscrições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37560" y="1463040"/>
            <a:ext cx="2560320" cy="1371600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37560" y="164592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50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37560" y="224028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Participantes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79" y="1463040"/>
            <a:ext cx="2560320" cy="1371600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79" y="164592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≥42%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79" y="224028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Comparecimento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15399" y="1463040"/>
            <a:ext cx="2560320" cy="1371600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15399" y="164592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20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15399" y="224028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Contas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3108960"/>
            <a:ext cx="2560320" cy="1371600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329184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388620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Oportunidades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337560" y="3108960"/>
            <a:ext cx="2560320" cy="1371600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337560" y="329184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R$ 1,1M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37560" y="388620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Pipeline potencial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26479" y="3108960"/>
            <a:ext cx="2560320" cy="1371600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26479" y="329184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R$ 6,5 mil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26479" y="388620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Investimento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915399" y="3108960"/>
            <a:ext cx="2560320" cy="1371600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915399" y="329184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168x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15399" y="388620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ROI potencial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A800"/>
                </a:solidFill>
              </a:rPr>
              <a:t>CONFIRMADO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02F6C"/>
                </a:solidFill>
              </a:rPr>
              <a:t>O Que Teremos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2011680" cy="36576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463040"/>
            <a:ext cx="9144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</a:pPr>
            <a:r>
              <a:rPr sz="1600">
                <a:solidFill>
                  <a:srgbClr val="444444"/>
                </a:solidFill>
              </a:rPr>
              <a:t>•  Coffee</a:t>
            </a:r>
          </a:p>
          <a:p>
            <a:pPr>
              <a:lnSpc>
                <a:spcPct val="140000"/>
              </a:lnSpc>
            </a:pPr>
            <a:r>
              <a:rPr sz="1600">
                <a:solidFill>
                  <a:srgbClr val="444444"/>
                </a:solidFill>
              </a:rPr>
              <a:t>•  Brindes</a:t>
            </a:r>
          </a:p>
          <a:p>
            <a:pPr>
              <a:lnSpc>
                <a:spcPct val="140000"/>
              </a:lnSpc>
            </a:pPr>
            <a:r>
              <a:rPr sz="1600">
                <a:solidFill>
                  <a:srgbClr val="444444"/>
                </a:solidFill>
              </a:rPr>
              <a:t>•  Apresentação de case (SSA Alimentos)</a:t>
            </a:r>
          </a:p>
          <a:p>
            <a:pPr>
              <a:lnSpc>
                <a:spcPct val="140000"/>
              </a:lnSpc>
            </a:pPr>
            <a:r>
              <a:rPr sz="1600">
                <a:solidFill>
                  <a:srgbClr val="444444"/>
                </a:solidFill>
              </a:rPr>
              <a:t>•  Pesquisa de engajamento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0292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996600"/>
                </a:solidFill>
              </a:rPr>
              <a:t>*Inscrições até o momento: XX — atualizar na reunião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A800"/>
                </a:solidFill>
              </a:rPr>
              <a:t>3. STATUS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02F6C"/>
                </a:solidFill>
              </a:rPr>
              <a:t>Onde Estamos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2011680" cy="36576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280160"/>
            <a:ext cx="11247120" cy="914400"/>
          </a:xfrm>
          <a:prstGeom prst="rect">
            <a:avLst/>
          </a:prstGeom>
          <a:solidFill>
            <a:srgbClr val="FCEA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4173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02B2B"/>
                </a:solidFill>
              </a:rPr>
              <a:t>⚠ ALERTA DE PRAZO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7373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444444"/>
                </a:solidFill>
              </a:rPr>
              <a:t>Hoje é 14/08 — evento em 12 dias. Case e palestrantes já confirmados.
Divulgação e e-mails de convite seguem atrasados — foco #1 da reunião.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2377440"/>
          <a:ext cx="1106424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3200400"/>
                <a:gridCol w="4937760"/>
              </a:tblGrid>
              <a:tr h="45720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Frente</a:t>
                      </a:r>
                    </a:p>
                  </a:txBody>
                  <a:tcPr>
                    <a:solidFill>
                      <a:srgbClr val="002F6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Status</a:t>
                      </a:r>
                    </a:p>
                  </a:txBody>
                  <a:tcPr>
                    <a:solidFill>
                      <a:srgbClr val="002F6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Pendência crítica</a:t>
                      </a:r>
                    </a:p>
                  </a:txBody>
                  <a:tcPr>
                    <a:solidFill>
                      <a:srgbClr val="002F6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444444"/>
                          </a:solidFill>
                        </a:defRPr>
                      </a:pPr>
                      <a:r>
                        <a:t>Case de sucesso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444444"/>
                          </a:solidFill>
                        </a:defRPr>
                      </a:pPr>
                      <a:r>
                        <a:t>✅ SSA Alimentos / Rodrigo Dumont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444444"/>
                          </a:solidFill>
                        </a:defRPr>
                      </a:pPr>
                      <a:r>
                        <a:t>Alinhar roteiro do case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444444"/>
                          </a:solidFill>
                        </a:defRPr>
                      </a:pPr>
                      <a:r>
                        <a:t>Palestrantes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444444"/>
                          </a:solidFill>
                        </a:defRPr>
                      </a:pPr>
                      <a:r>
                        <a:t>✅ Junior Freitas, Andrey, André Ferreira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444444"/>
                          </a:solidFill>
                        </a:defRPr>
                      </a:pPr>
                      <a:r>
                        <a:t>Alinhar conteúdo e tempo de fala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444444"/>
                          </a:solidFill>
                        </a:defRPr>
                      </a:pPr>
                      <a:r>
                        <a:t>Lista de convidados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444444"/>
                          </a:solidFill>
                        </a:defRPr>
                      </a:pPr>
                      <a:r>
                        <a:t>Ajustada p/ 50/60 pessoas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444444"/>
                          </a:solidFill>
                        </a:defRPr>
                      </a:pPr>
                      <a:r>
                        <a:t>Fechar lista final hoje/amanhã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444444"/>
                          </a:solidFill>
                        </a:defRPr>
                      </a:pPr>
                      <a:r>
                        <a:t>Inscrições até agora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444444"/>
                          </a:solidFill>
                        </a:defRPr>
                      </a:pPr>
                      <a:r>
                        <a:t>Em aberto (XX)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444444"/>
                          </a:solidFill>
                        </a:defRPr>
                      </a:pPr>
                      <a:r>
                        <a:t>Levantar número atual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444444"/>
                          </a:solidFill>
                        </a:defRPr>
                      </a:pPr>
                      <a:r>
                        <a:t>Página + formulário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444444"/>
                          </a:solidFill>
                        </a:defRPr>
                      </a:pPr>
                      <a:r>
                        <a:t>Layout pronto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444444"/>
                          </a:solidFill>
                        </a:defRPr>
                      </a:pPr>
                      <a:r>
                        <a:t>Confirmar publicação/link ativo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444444"/>
                          </a:solidFill>
                        </a:defRPr>
                      </a:pPr>
                      <a:r>
                        <a:t>E-mails de convite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444444"/>
                          </a:solidFill>
                        </a:defRPr>
                      </a:pPr>
                      <a:r>
                        <a:t>Cadência atrasada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444444"/>
                          </a:solidFill>
                        </a:defRPr>
                      </a:pPr>
                      <a:r>
                        <a:t>Replanejar disparos comprimidos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444444"/>
                          </a:solidFill>
                        </a:defRPr>
                      </a:pPr>
                      <a:r>
                        <a:t>Posts redes sociais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444444"/>
                          </a:solidFill>
                        </a:defRPr>
                      </a:pPr>
                      <a:r>
                        <a:t>Atrasados (post 01 e 02)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444444"/>
                          </a:solidFill>
                        </a:defRPr>
                      </a:pPr>
                      <a:r>
                        <a:t>Publicar retroativo esta semana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444444"/>
                          </a:solidFill>
                        </a:defRPr>
                      </a:pPr>
                      <a:r>
                        <a:t>Anúncios (LinkedIn/Google)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444444"/>
                          </a:solidFill>
                        </a:defRPr>
                      </a:pPr>
                      <a:r>
                        <a:t>Budget aprovado R$1.000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444444"/>
                          </a:solidFill>
                        </a:defRPr>
                      </a:pPr>
                      <a:r>
                        <a:t>Confirmar campanha no ar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444444"/>
                          </a:solidFill>
                        </a:defRPr>
                      </a:pPr>
                      <a:r>
                        <a:t>Brindes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444444"/>
                          </a:solidFill>
                        </a:defRPr>
                      </a:pPr>
                      <a:r>
                        <a:t>Pendente aprovação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444444"/>
                          </a:solidFill>
                        </a:defRPr>
                      </a:pPr>
                      <a:r>
                        <a:t>Aprovar R$ 300,00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A800"/>
                </a:solidFill>
              </a:rPr>
              <a:t>4. PROGRAMAÇÃO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02F6C"/>
                </a:solidFill>
              </a:rPr>
              <a:t>Agenda do Dia 26/08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2011680" cy="36576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371600"/>
          <a:ext cx="11064240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5486400"/>
                <a:gridCol w="3291840"/>
              </a:tblGrid>
              <a:tr h="50292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Horário</a:t>
                      </a:r>
                    </a:p>
                  </a:txBody>
                  <a:tcPr>
                    <a:solidFill>
                      <a:srgbClr val="002F6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Bloco</a:t>
                      </a:r>
                    </a:p>
                  </a:txBody>
                  <a:tcPr>
                    <a:solidFill>
                      <a:srgbClr val="002F6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Responsável</a:t>
                      </a:r>
                    </a:p>
                  </a:txBody>
                  <a:tcPr>
                    <a:solidFill>
                      <a:srgbClr val="002F6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4444"/>
                          </a:solidFill>
                        </a:defRPr>
                      </a:pPr>
                      <a:r>
                        <a:t>08h30–09h00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4444"/>
                          </a:solidFill>
                        </a:defRPr>
                      </a:pPr>
                      <a:r>
                        <a:t>Recepção e networking executivo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4444"/>
                          </a:solidFill>
                        </a:defRPr>
                      </a:pPr>
                      <a:r>
                        <a:t>Coffee / chegada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4444"/>
                          </a:solidFill>
                        </a:defRPr>
                      </a:pPr>
                      <a:r>
                        <a:t>09h00–09h30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4444"/>
                          </a:solidFill>
                        </a:defRPr>
                      </a:pPr>
                      <a:r>
                        <a:t>Abertura: antes da IA, vêm os dados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4444"/>
                          </a:solidFill>
                        </a:defRPr>
                      </a:pPr>
                      <a:r>
                        <a:t>Junior Freitas e Andrey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4444"/>
                          </a:solidFill>
                        </a:defRPr>
                      </a:pPr>
                      <a:r>
                        <a:t>09h30–10h00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4444"/>
                          </a:solidFill>
                        </a:defRPr>
                      </a:pPr>
                      <a:r>
                        <a:t>SAP BDC: fundação de dados integrados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4444"/>
                          </a:solidFill>
                        </a:defRPr>
                      </a:pPr>
                      <a:r>
                        <a:t>SAP, Andrey e André Ferreira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4444"/>
                          </a:solidFill>
                        </a:defRPr>
                      </a:pPr>
                      <a:r>
                        <a:t>10h00–10h30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4444"/>
                          </a:solidFill>
                        </a:defRPr>
                      </a:pPr>
                      <a:r>
                        <a:t>Demonstração prática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4444"/>
                          </a:solidFill>
                        </a:defRPr>
                      </a:pPr>
                      <a:r>
                        <a:t>Andrey e André Ferreira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4444"/>
                          </a:solidFill>
                        </a:defRPr>
                      </a:pPr>
                      <a:r>
                        <a:t>10min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4444"/>
                          </a:solidFill>
                        </a:defRPr>
                      </a:pPr>
                      <a:r>
                        <a:t>Break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4444"/>
                          </a:solidFill>
                        </a:defRPr>
                      </a:pPr>
                      <a:r>
                        <a:t>All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4444"/>
                          </a:solidFill>
                        </a:defRPr>
                      </a:pPr>
                      <a:r>
                        <a:t>10h40–11h10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4444"/>
                          </a:solidFill>
                        </a:defRPr>
                      </a:pPr>
                      <a:r>
                        <a:t>Case de sucesso SSA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4444"/>
                          </a:solidFill>
                        </a:defRPr>
                      </a:pPr>
                      <a:r>
                        <a:t>Rodrigo Dumont (SSA Alimentos)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4444"/>
                          </a:solidFill>
                        </a:defRPr>
                      </a:pPr>
                      <a:r>
                        <a:t>11h10–11h40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4444"/>
                          </a:solidFill>
                        </a:defRPr>
                      </a:pPr>
                      <a:r>
                        <a:t>Próximos passos / encerramento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4444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4444"/>
                          </a:solidFill>
                        </a:defRPr>
                      </a:pPr>
                      <a:r>
                        <a:t>11h40–12h00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4444"/>
                          </a:solidFill>
                        </a:defRPr>
                      </a:pPr>
                      <a:r>
                        <a:t>Networking final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4444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A800"/>
                </a:solidFill>
              </a:rPr>
              <a:t>5. POSICIONAMENTO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02F6C"/>
                </a:solidFill>
              </a:rPr>
              <a:t>Mensagem-Chave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2011680" cy="36576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371600"/>
            <a:ext cx="11247120" cy="1005840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00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"Sua empresa já tem os dados. O SAP BDC entrega a IA."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743200"/>
            <a:ext cx="10058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>
                <a:solidFill>
                  <a:srgbClr val="444444"/>
                </a:solidFill>
              </a:rPr>
              <a:t>•  Tom: expert/conselheiro, direto, orientado a negócio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444444"/>
                </a:solidFill>
              </a:rPr>
              <a:t>•  Não mencionar preço sem qualificação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444444"/>
                </a:solidFill>
              </a:rPr>
              <a:t>•  Não comparar com Databricks/Snowflake sem contexto adequado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444444"/>
                </a:solidFill>
              </a:rPr>
              <a:t>•  CTA lead: inscrição no evento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444444"/>
                </a:solidFill>
              </a:rPr>
              <a:t>•  CTA SQL: diagnóstico gratuito / reunião com especialista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A800"/>
                </a:solidFill>
              </a:rPr>
              <a:t>6. AÇÃO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02F6C"/>
                </a:solidFill>
              </a:rPr>
              <a:t>Decisões para Sair Desta Reunião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2011680" cy="36576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444444"/>
                </a:solidFill>
              </a:rPr>
              <a:t>•  Reportar número de inscrições até hoje (comparar com meta de 120)</a:t>
            </a:r>
          </a:p>
          <a:p>
            <a:pPr>
              <a:lnSpc>
                <a:spcPct val="130000"/>
              </a:lnSpc>
            </a:pPr>
            <a:r>
              <a:rPr sz="1500">
                <a:solidFill>
                  <a:srgbClr val="444444"/>
                </a:solidFill>
              </a:rPr>
              <a:t>•  Fechar lista final de 50/60 convidados</a:t>
            </a:r>
          </a:p>
          <a:p>
            <a:pPr>
              <a:lnSpc>
                <a:spcPct val="130000"/>
              </a:lnSpc>
            </a:pPr>
            <a:r>
              <a:rPr sz="1500">
                <a:solidFill>
                  <a:srgbClr val="444444"/>
                </a:solidFill>
              </a:rPr>
              <a:t>•  Alinhar roteiro do case com Rodrigo Dumont (SSA Alimentos)</a:t>
            </a:r>
          </a:p>
          <a:p>
            <a:pPr>
              <a:lnSpc>
                <a:spcPct val="130000"/>
              </a:lnSpc>
            </a:pPr>
            <a:r>
              <a:rPr sz="1500">
                <a:solidFill>
                  <a:srgbClr val="444444"/>
                </a:solidFill>
              </a:rPr>
              <a:t>•  Replanejar cadência de e-mails (disparos comprimidos até 24/08)</a:t>
            </a:r>
          </a:p>
          <a:p>
            <a:pPr>
              <a:lnSpc>
                <a:spcPct val="130000"/>
              </a:lnSpc>
            </a:pPr>
            <a:r>
              <a:rPr sz="1500">
                <a:solidFill>
                  <a:srgbClr val="444444"/>
                </a:solidFill>
              </a:rPr>
              <a:t>•  Quem publica os posts atrasados (lançamento + convite 01) esta semana</a:t>
            </a:r>
          </a:p>
          <a:p>
            <a:pPr>
              <a:lnSpc>
                <a:spcPct val="130000"/>
              </a:lnSpc>
            </a:pPr>
            <a:r>
              <a:rPr sz="1500">
                <a:solidFill>
                  <a:srgbClr val="444444"/>
                </a:solidFill>
              </a:rPr>
              <a:t>•  Confirmar se anúncios (LinkedIn/Google) já estão ativos</a:t>
            </a:r>
          </a:p>
          <a:p>
            <a:pPr>
              <a:lnSpc>
                <a:spcPct val="130000"/>
              </a:lnSpc>
            </a:pPr>
            <a:r>
              <a:rPr sz="1500">
                <a:solidFill>
                  <a:srgbClr val="444444"/>
                </a:solidFill>
              </a:rPr>
              <a:t>•  Aprovar custo de brindes (R$ 300)</a:t>
            </a:r>
          </a:p>
          <a:p>
            <a:pPr>
              <a:lnSpc>
                <a:spcPct val="130000"/>
              </a:lnSpc>
            </a:pPr>
            <a:r>
              <a:rPr sz="1500">
                <a:solidFill>
                  <a:srgbClr val="444444"/>
                </a:solidFill>
              </a:rPr>
              <a:t>•  Alinhar conteúdo e tempo de fala de Junior Freitas, Andrey e André Ferreira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A800"/>
                </a:solidFill>
              </a:rPr>
              <a:t>7. CHECKLIST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02F6C"/>
                </a:solidFill>
              </a:rPr>
              <a:t>Próximos Passos Imediatos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2011680" cy="36576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444444"/>
                </a:solidFill>
              </a:rPr>
              <a:t>•  Reportar número de inscrições atuais</a:t>
            </a:r>
          </a:p>
          <a:p>
            <a:pPr>
              <a:lnSpc>
                <a:spcPct val="130000"/>
              </a:lnSpc>
            </a:pPr>
            <a:r>
              <a:rPr sz="1500">
                <a:solidFill>
                  <a:srgbClr val="444444"/>
                </a:solidFill>
              </a:rPr>
              <a:t>•  Fechar lista final de convidados (50/60)</a:t>
            </a:r>
          </a:p>
          <a:p>
            <a:pPr>
              <a:lnSpc>
                <a:spcPct val="130000"/>
              </a:lnSpc>
            </a:pPr>
            <a:r>
              <a:rPr sz="1500">
                <a:solidFill>
                  <a:srgbClr val="444444"/>
                </a:solidFill>
              </a:rPr>
              <a:t>•  Alinhar roteiro do case com Rodrigo Dumont</a:t>
            </a:r>
          </a:p>
          <a:p>
            <a:pPr>
              <a:lnSpc>
                <a:spcPct val="130000"/>
              </a:lnSpc>
            </a:pPr>
            <a:r>
              <a:rPr sz="1500">
                <a:solidFill>
                  <a:srgbClr val="444444"/>
                </a:solidFill>
              </a:rPr>
              <a:t>•  Disparar e-mail de convite (comprimido) ainda esta semana</a:t>
            </a:r>
          </a:p>
          <a:p>
            <a:pPr>
              <a:lnSpc>
                <a:spcPct val="130000"/>
              </a:lnSpc>
            </a:pPr>
            <a:r>
              <a:rPr sz="1500">
                <a:solidFill>
                  <a:srgbClr val="444444"/>
                </a:solidFill>
              </a:rPr>
              <a:t>•  Publicar post de lançamento + convite 01 (atrasados)</a:t>
            </a:r>
          </a:p>
          <a:p>
            <a:pPr>
              <a:lnSpc>
                <a:spcPct val="130000"/>
              </a:lnSpc>
            </a:pPr>
            <a:r>
              <a:rPr sz="1500">
                <a:solidFill>
                  <a:srgbClr val="444444"/>
                </a:solidFill>
              </a:rPr>
              <a:t>•  Validar página do evento e formulário ao vivo</a:t>
            </a:r>
          </a:p>
          <a:p>
            <a:pPr>
              <a:lnSpc>
                <a:spcPct val="130000"/>
              </a:lnSpc>
            </a:pPr>
            <a:r>
              <a:rPr sz="1500">
                <a:solidFill>
                  <a:srgbClr val="444444"/>
                </a:solidFill>
              </a:rPr>
              <a:t>•  Confirmar campanha de anúncios no ar</a:t>
            </a:r>
          </a:p>
          <a:p>
            <a:pPr>
              <a:lnSpc>
                <a:spcPct val="130000"/>
              </a:lnSpc>
            </a:pPr>
            <a:r>
              <a:rPr sz="1500">
                <a:solidFill>
                  <a:srgbClr val="444444"/>
                </a:solidFill>
              </a:rPr>
              <a:t>•  Aprovar budget de brindes</a:t>
            </a:r>
          </a:p>
          <a:p>
            <a:pPr>
              <a:lnSpc>
                <a:spcPct val="130000"/>
              </a:lnSpc>
            </a:pPr>
            <a:r>
              <a:rPr sz="1500">
                <a:solidFill>
                  <a:srgbClr val="444444"/>
                </a:solidFill>
              </a:rPr>
              <a:t>•  Alinhar apresentação com os 3 palestrantes internos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093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999999"/>
                </a:solidFill>
              </a:rPr>
              <a:t>Fonte: Planejamento de Evento — Abril 2026 | eventos/sap-bdc-innovation-day-2026/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