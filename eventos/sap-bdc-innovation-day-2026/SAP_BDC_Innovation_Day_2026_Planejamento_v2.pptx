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Planejamento de Evento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5A800"/>
                </a:solidFill>
              </a:rPr>
              <a:t>SAP BDC Innovation Day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Dados como Ativo Estratégico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26 de agosto de 2026  |  SAP Brasil, São Paulo  |  08:30 às 12h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</a:rPr>
              <a:t>solveplan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Detalhes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02920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Nome: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0058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SAP BDC Innovation Day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Tema: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3075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SAP Business Data Cloud (BDC)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0934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Data: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6093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26 de agosto de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110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Horário: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9110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08:30 às 12h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1284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Local: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2128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SAP Brasil — Av. das Nações Unidas, 14171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5146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Auditório: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5146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MASP — até 60 pessoas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163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Público-alvo convidado: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8163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120 pessoas (considerando quebra ~42%)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Objetivos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868680"/>
            <a:ext cx="48463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Awareness e posicionamento como referência BDC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Expandir contatos e networking estratégico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Gerar novas oportunidades de negócio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103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Retenção e upsell de clientes ativos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4688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Geração de deals no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560320" cy="20116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Solução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228600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45919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SAP Business
Data Cloud (BDC)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097280"/>
            <a:ext cx="2560320" cy="20116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Objetivo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554480"/>
            <a:ext cx="228600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645919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Awareness e geração
de demanda (deals no pipe)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097280"/>
            <a:ext cx="2560320" cy="20116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Etapa do Funil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554480"/>
            <a:ext cx="228600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645919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Meio e fundo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097280"/>
            <a:ext cx="2560320" cy="20116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Período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1554480"/>
            <a:ext cx="228600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1645919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Jun – Ago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74720"/>
            <a:ext cx="2560320" cy="20116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Target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931920"/>
            <a:ext cx="228600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023359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+R$ 2B faturamento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3474720"/>
            <a:ext cx="2560320" cy="20116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Indústria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3931920"/>
            <a:ext cx="228600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4023359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Cross industry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3474720"/>
            <a:ext cx="2560320" cy="20116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Persona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3931920"/>
            <a:ext cx="228600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4023359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Controller, Head de Dados,
CIO, CFO — Diretor, Gerente,
Coordenador, Analista Sênior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9680" y="3474720"/>
            <a:ext cx="2560320" cy="20116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Conversão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840" y="3931920"/>
            <a:ext cx="228600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4023359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Reunião / Diagnóstico / PoC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Público-alvo — Personas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566160" cy="54864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CIO / Diretor de TI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3566160" cy="29260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F6C"/>
                </a:solidFill>
              </a:rPr>
              <a:t>DECISOR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3566160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65960"/>
            <a:ext cx="3383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Porte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76272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+R$ 800M, cross industry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80360"/>
            <a:ext cx="3566160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3383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Desafios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36392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Dados em silos SAP + non-SAP;
pressão para entregar IA;
governança frágil; ROI difícil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0480"/>
            <a:ext cx="3566160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886200"/>
            <a:ext cx="3383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Motivação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96512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IA funcionando sobre dados reais
sem construir do zero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00600"/>
            <a:ext cx="3566160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3383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Barreiras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56632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Ambiente complexo;
inicias em andamento;
custo percebido alto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1005840"/>
            <a:ext cx="3566160" cy="54864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59" y="105156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Head de Dados / BI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1554480"/>
            <a:ext cx="3566160" cy="29260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0520" y="155448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F6C"/>
                </a:solidFill>
              </a:rPr>
              <a:t>INFLUENCIADOR TÉCNICO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1920240"/>
            <a:ext cx="3566160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51959" y="1965960"/>
            <a:ext cx="3383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Porte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59" y="2176272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+R$ 800M, cross industry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2880360"/>
            <a:ext cx="3566160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59" y="2926080"/>
            <a:ext cx="3383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Desafios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59" y="3136392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Pipeline manual e frágil;
dados inconsistentes entre áreas;
dificuldade de conectar SAP
com outras fontes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3840480"/>
            <a:ext cx="3566160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51959" y="3886200"/>
            <a:ext cx="3383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Motivação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59" y="4096512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Plataforma governada que
reduz retrabalho e acelera
entregas ao negócio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0520" y="4800600"/>
            <a:ext cx="3566160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59" y="4846320"/>
            <a:ext cx="3383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Barreiras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59" y="5056632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Stack atual (Databricks, Power BI);
alinhamento com TI e CIO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1005840"/>
            <a:ext cx="3566160" cy="54864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19" y="1051560"/>
            <a:ext cx="3383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CFO / Controller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79" y="1554480"/>
            <a:ext cx="3566160" cy="29260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79" y="155448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F6C"/>
                </a:solidFill>
              </a:rPr>
              <a:t>INFLUENCIADOR FINANCEIRO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1920240"/>
            <a:ext cx="3566160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19" y="1965960"/>
            <a:ext cx="3383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Porte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19" y="2176272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+R$ 800M, cross industry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55279" y="2880360"/>
            <a:ext cx="3566160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19" y="2926080"/>
            <a:ext cx="3383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Desafios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19" y="3136392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Fechamento lento e manual;
planejamento desconectado
do operacional; sem visão
consolidada em tempo real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79" y="3840480"/>
            <a:ext cx="3566160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19" y="3886200"/>
            <a:ext cx="3383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Motivação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19" y="4096512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Reduzir ciclo de fechamento;
planejamento com dados reais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55279" y="4800600"/>
            <a:ext cx="3566160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19" y="4846320"/>
            <a:ext cx="3383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Barreiras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19" y="5056632"/>
            <a:ext cx="33832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ROI não é imediato;
SAP percebido como longo e caro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Oferta — SAP Business Data Cloud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94960" cy="11887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698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F6C"/>
                </a:solidFill>
              </a:rPr>
              <a:t>Solução ofertada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335024"/>
            <a:ext cx="5120640" cy="27432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89888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SAP Business Data Cloud (BDC)
implementado pela Solveplan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67712"/>
            <a:ext cx="5394960" cy="11887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F6C"/>
                </a:solidFill>
              </a:rPr>
              <a:t>Problema que resolve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596896"/>
            <a:ext cx="5120640" cy="27432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Dados fragmentados entre SAP e non-SAP
impede o uso real de IA. A empresa tem
os dados mas não consegue ativá-los.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29584"/>
            <a:ext cx="5394960" cy="11887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593591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F6C"/>
                </a:solidFill>
              </a:rPr>
              <a:t>Benefícios técnicos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858768"/>
            <a:ext cx="5120640" cy="27432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13632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Camada unificada e governada de dados;
integração nativa com S/4HANA;
conectores para fontes non-SAP;
modelo semântico compartilhado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91456"/>
            <a:ext cx="5394960" cy="11887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85546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F6C"/>
                </a:solidFill>
              </a:rPr>
              <a:t>Benefícios de negócio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5120640"/>
            <a:ext cx="5120640" cy="27432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175504"/>
            <a:ext cx="51206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IA nativa (SAP Joule) sem construir
infrastrutura do zero; time-to-value
mais rápido; governança sem projetos
paralelos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005840"/>
            <a:ext cx="5394960" cy="1828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800"/>
                </a:solidFill>
              </a:rPr>
              <a:t>Diferencial Solveplan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1435608"/>
            <a:ext cx="5120640" cy="27432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1508760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Melhor Parceiro SAP BDC 2026 — América Latina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1810512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Aceleradores próprios para onboarding rápido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112264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390+ projetos entregues | 150+ empresas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414016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60+ especialistas SAP | 13+ anos de atuação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926080"/>
            <a:ext cx="5394960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9992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F6C"/>
                </a:solidFill>
              </a:rPr>
              <a:t>Palavras-chave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2918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SAP BDC  •  Business Data Cloud  •  dados SAP
IA para dados corporativos  •  SAP Joule
governança de dados  •  analytics integrado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023360"/>
            <a:ext cx="5394960" cy="91440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0965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5800"/>
                </a:solidFill>
              </a:rPr>
              <a:t>⚠ Pontos restritivos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3891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B5800"/>
                </a:solidFill>
              </a:rPr>
              <a:t>Não mencionar preço sem qualificação.
Não comparar com Databricks/Snowflake
sem contexto adequado.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5029200"/>
            <a:ext cx="5394960" cy="7772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50932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F6C"/>
                </a:solidFill>
              </a:rPr>
              <a:t>Cases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3492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44444"/>
                </a:solidFill>
              </a:rPr>
              <a:t>A confirmar — candidatos: VALE, Klabin, Aegea, COPEL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Estratégia de Mensagem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100584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78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800"/>
                </a:solidFill>
              </a:rPr>
              <a:t>KEY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"Sua empresa já tem os dados. O BDC entrega a IA."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11247120" cy="11887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128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ELEVATOR PITCH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87168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Para CIOs e heads de dados de empresas com SAP que têm dados fragmentados e não conseguem usar IA de forma integrada, o SAP BDC oferece uma camada unificada e governada que ativa inteligência artificial sobre os dados que já existem — sem precisar construir infraestrutura do zero.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F6C"/>
                </a:solidFill>
              </a:rPr>
              <a:t>Dores a provocar na comunicação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228600" cy="29260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Você tem SAP há anos. Por que os dados ainda estão em silos?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06240"/>
            <a:ext cx="228600" cy="29260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06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IA exige dados limpos e governados. Você tem isso hoje?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228600" cy="29260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572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Quanto tempo sua equipe gasta em conciliação manual?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37760"/>
            <a:ext cx="228600" cy="29260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Você está construindo do zero o que já existe dentro do SAP.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228600" cy="29260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303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Projetos de IA falham por dados — não por tecnologia ruim.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474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F6C"/>
                </a:solidFill>
              </a:rPr>
              <a:t>CTAs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3840480"/>
            <a:ext cx="5303520" cy="685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3904487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800"/>
                </a:solidFill>
              </a:rPr>
              <a:t>CTA LEAD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133087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Inscrição no evento
(landing page / formulário)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4617720"/>
            <a:ext cx="5303520" cy="685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6817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CTA 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9103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Diagnóstico gratuito /
Reunião com especialista BDC (D+7)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5394960"/>
            <a:ext cx="5303520" cy="502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54589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F6C"/>
                </a:solidFill>
              </a:rPr>
              <a:t>Tom de voz: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564184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Expert / conselheiro — direto, sem hype, orientado a negócio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Metas de Sucesso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Baseline: edição de fev/2025 — 108 inscrições / 63 presentes / 5 deals / ROI 9.824% / R$ 5.034,80 investimento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103120" cy="1828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459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800"/>
                </a:solidFill>
              </a:rPr>
              <a:t>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23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Inscrições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1371600"/>
            <a:ext cx="2103120" cy="1828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6459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800"/>
                </a:solidFill>
              </a:rPr>
              <a:t>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423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Participantes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371600"/>
            <a:ext cx="2103120" cy="1828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6459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800"/>
                </a:solidFill>
              </a:rPr>
              <a:t>≥58%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423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Taxa de Comparecimento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1371600"/>
            <a:ext cx="2103120" cy="1828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16459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800"/>
                </a:solidFill>
              </a:rPr>
              <a:t>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423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MQLs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1371600"/>
            <a:ext cx="2103120" cy="1828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16459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800"/>
                </a:solidFill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4231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SQLs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57600"/>
            <a:ext cx="2743200" cy="1828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9319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800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709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Oportunidades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3657600"/>
            <a:ext cx="2743200" cy="1828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39319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800"/>
                </a:solidFill>
              </a:rPr>
              <a:t>R$ 3M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709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Pipeline Esperado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657600"/>
            <a:ext cx="2743200" cy="18288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9319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A800"/>
                </a:solidFill>
              </a:rPr>
              <a:t>&gt;9.000%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709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ROI Estimado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2286000" cy="5669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08:30 – 09:00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005840"/>
            <a:ext cx="8961120" cy="566928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05156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Coffee de boas-vindas + networking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64208"/>
            <a:ext cx="2286000" cy="5669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64208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09:00 – 09:30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664208"/>
            <a:ext cx="8961120" cy="56692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1709928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Abertura — Solveplan + contexto SAP BDC no mercado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22576"/>
            <a:ext cx="2286000" cy="5669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322576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09:30 – 10:15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322576"/>
            <a:ext cx="8961120" cy="56692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368296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SAP Business Data Cloud: unificando dados SAP e non-SAP com IA integrada + demo ao vivo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80944"/>
            <a:ext cx="2286000" cy="5669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80944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10:15 – 10:45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980944"/>
            <a:ext cx="8961120" cy="56692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3026663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Case de sucesso — cliente Solveplan (a confirmar: VALE / Klabin / Aegea)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39311"/>
            <a:ext cx="2286000" cy="5669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639311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10:45 – 11:15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3639311"/>
            <a:ext cx="8961120" cy="56692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3685031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Mesa redonda: desafios reais de dados nas empresas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97679"/>
            <a:ext cx="2286000" cy="5669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297679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11:15 – 11:30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4297679"/>
            <a:ext cx="8961120" cy="56692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4343399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Encerramento + próximos passos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56047"/>
            <a:ext cx="2286000" cy="5669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956047"/>
            <a:ext cx="2286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11:30 – 12:00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4956047"/>
            <a:ext cx="8961120" cy="566928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71800" y="5001767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Networking livre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Orçamento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F6C"/>
                </a:solidFill>
              </a:rPr>
              <a:t>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79" y="1051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F6C"/>
                </a:solidFill>
              </a:rPr>
              <a:t>Valor Previsto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19" y="1051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F6C"/>
                </a:solidFill>
              </a:rPr>
              <a:t>Realizado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Coffee (70 pax)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79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R$ 4.400,00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19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87451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Brindes (Moleskine + Caneta)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18745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R$ 800,00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18745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40280"/>
            <a:ext cx="11247120" cy="4114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286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LinkedIn Ads (convite para o evento)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R$ 800,00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51760"/>
            <a:ext cx="11247120" cy="41148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697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79" y="2697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R$ 6.000,00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19" y="2697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337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Custo por inscrito esperado: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~R$ 50,00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703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Custo por participante esperado: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3703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~R$ 86,00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069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Custo por oportunidade esperado: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069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~R$ 1.000,00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029200"/>
            <a:ext cx="11247120" cy="7315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074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2F6C"/>
                </a:solidFill>
              </a:rPr>
              <a:t>Referência fev/2025: R$ 5.034,80 investidos → 5 deals → ROI 9.824%. Com R$ 6.000,00 e meta de 6 deals, projeção de ROI superior.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Cronograma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103120" cy="457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JUN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1554480"/>
            <a:ext cx="45720" cy="3200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2103120" cy="29260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Planejamento
Definições e confirmações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98064" y="1097280"/>
            <a:ext cx="2103120" cy="457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98064" y="1097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JUL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9624" y="1554480"/>
            <a:ext cx="45720" cy="3200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8064" y="1554480"/>
            <a:ext cx="2103120" cy="29260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9504" y="164592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Criação e Divulgação
Materiais + início dos convites (21/07)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38928" y="1097280"/>
            <a:ext cx="2103120" cy="457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1097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AGO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1554480"/>
            <a:ext cx="45720" cy="3200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38928" y="1554480"/>
            <a:ext cx="2103120" cy="29260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0368" y="164592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Convites e RSVP
Reforço WhatsApp + confirmações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9792" y="1097280"/>
            <a:ext cx="2103120" cy="45720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9792" y="1097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F6C"/>
                </a:solidFill>
              </a:rPr>
              <a:t>26/08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31352" y="1554480"/>
            <a:ext cx="45720" cy="3200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79792" y="1554480"/>
            <a:ext cx="2103120" cy="292608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71231" y="164592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F6C"/>
                </a:solidFill>
              </a:rPr>
              <a:t>EVENTO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20656" y="1097280"/>
            <a:ext cx="2103120" cy="4572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0656" y="1097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SET 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872216" y="1554480"/>
            <a:ext cx="45720" cy="3200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20656" y="1554480"/>
            <a:ext cx="2103120" cy="29260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12096" y="1645920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Follow-up e Report
CRM + relatório de resultados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Sequência de e-mails: 21/07 → 28/07 → 04/08 → 11/08 → 18/08 → Lembrete 24/08 → Agradecimento 27/08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Comunicação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</a:rPr>
              <a:t>E-mails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303520" cy="38404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5389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E-mail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45389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21/07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45389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1º convite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19656"/>
            <a:ext cx="5303520" cy="38404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56231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F6C"/>
                </a:solidFill>
              </a:rPr>
              <a:t>E-mail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856231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2F6C"/>
                </a:solidFill>
              </a:rPr>
              <a:t>28/07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856231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F6C"/>
                </a:solidFill>
              </a:rPr>
              <a:t>2º convite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21992"/>
            <a:ext cx="5303520" cy="38404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25856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E-mail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25856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04/08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258568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3º convite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24328"/>
            <a:ext cx="5303520" cy="38404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60904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F6C"/>
                </a:solidFill>
              </a:rPr>
              <a:t>E-mail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2660904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2F6C"/>
                </a:solidFill>
              </a:rPr>
              <a:t>11/08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660904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F6C"/>
                </a:solidFill>
              </a:rPr>
              <a:t>4º convite + WhatsApp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26664"/>
            <a:ext cx="5303520" cy="38404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063240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E-mail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3063240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18/08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06324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RSVP / últimas vagas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429000"/>
            <a:ext cx="5303520" cy="38404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46557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F6C"/>
                </a:solidFill>
              </a:rPr>
              <a:t>Lembrete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346557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2F6C"/>
                </a:solidFill>
              </a:rPr>
              <a:t>24/08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46557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2F6C"/>
                </a:solidFill>
              </a:rPr>
              <a:t>D-2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831336"/>
            <a:ext cx="5303520" cy="38404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86791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Agradecimento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3867912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27/08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386791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Pós-evento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</a:rPr>
              <a:t>Canais de Divulgação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1417320"/>
            <a:ext cx="5303520" cy="685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1463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LinkedIn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17373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Posts orgânicos + anúncios pagos (R$ 800,00)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2194560"/>
            <a:ext cx="5303520" cy="685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22402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Instagram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25146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Posts + Stories + Reels durante o evento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2971800"/>
            <a:ext cx="5303520" cy="685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3017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WhatsApp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32918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Disparo direto para contatos qualificados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3749039"/>
            <a:ext cx="5303520" cy="685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37947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E-mail Marketing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06907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Base de contatos segmentada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4526279"/>
            <a:ext cx="5303520" cy="685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457199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Site SAP Brasil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484631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Divulgação na plataforma da SAP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Engajamento, Brindes e Vestimenta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0352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F6C"/>
                </a:solidFill>
              </a:rPr>
              <a:t>Pesquisa &amp; Engajamento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81328"/>
            <a:ext cx="502920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QR Code de Pesquisa de Satisfação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019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Plataforma: Qualtrics (digital)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494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Brinde condicionado ao preenchimento via QR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968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Captação de dados para CRM no mesmo momento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5303520" cy="1828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F6C"/>
                </a:solidFill>
              </a:rPr>
              <a:t>Brindes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950208"/>
            <a:ext cx="502920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Moleskine (caderneta)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708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Caneta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709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Entrega mediante confirmação de preenchimento da pesquisa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005840"/>
            <a:ext cx="5303520" cy="18288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F6C"/>
                </a:solidFill>
              </a:rPr>
              <a:t>Vestimenta do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1481328"/>
            <a:ext cx="502920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Presença no evento: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187451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Sócios + Francielle Beline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Vestimenta: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Camiseta Insider com layout Solveplan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017520"/>
            <a:ext cx="5303520" cy="22860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F6C"/>
                </a:solidFill>
              </a:rPr>
              <a:t>Coffee Break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3493008"/>
            <a:ext cx="5029200" cy="36576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566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Bebidas: café, leite, suco, chá, água, iogurte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913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Doces + frutas: mini bolo, waffle, salada de frutas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2611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Salgados: mini sanduíches, pão de queijo, folhado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6085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70 pessoas | ~R$ 4.400,00 | 2 funcionários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109728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F6C"/>
                </a:solidFill>
              </a:rPr>
              <a:t>Resultados Esperados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24712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960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44444"/>
                </a:solidFill>
              </a:rPr>
              <a:t>Fev/2025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960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2F6C"/>
                </a:solidFill>
              </a:rPr>
              <a:t>Meta Ago/2026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1124712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9903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Inscrições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39903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108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1380744"/>
            <a:ext cx="3657600" cy="36576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39903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800"/>
                </a:solidFill>
              </a:rPr>
              <a:t>120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19656"/>
            <a:ext cx="11247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892807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Participantes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892807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63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1874519"/>
            <a:ext cx="3657600" cy="36576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892807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800"/>
                </a:solidFill>
              </a:rPr>
              <a:t>70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313432"/>
            <a:ext cx="1124712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38658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Taxa comp.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38658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58%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2368296"/>
            <a:ext cx="3657600" cy="36576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238658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800"/>
                </a:solidFill>
              </a:rPr>
              <a:t>≥ 58%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807208"/>
            <a:ext cx="11247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88036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MQLs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288036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862072"/>
            <a:ext cx="3657600" cy="36576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288036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800"/>
                </a:solidFill>
              </a:rPr>
              <a:t>70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300984"/>
            <a:ext cx="1124712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37413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SQLs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37413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3355848"/>
            <a:ext cx="3657600" cy="36576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337413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800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794760"/>
            <a:ext cx="11247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86791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Deals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386791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3849624"/>
            <a:ext cx="3657600" cy="36576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386791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800"/>
                </a:solidFill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288536"/>
            <a:ext cx="1124712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36168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Investimento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436168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R$5.034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4343400"/>
            <a:ext cx="3657600" cy="36576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436168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800"/>
                </a:solidFill>
              </a:rPr>
              <a:t>R$6.000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782312"/>
            <a:ext cx="11247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85546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F6C"/>
                </a:solidFill>
              </a:rPr>
              <a:t>ROI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48554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9.824%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66560" y="4837176"/>
            <a:ext cx="3657600" cy="36576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0" y="485546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800"/>
                </a:solidFill>
              </a:rPr>
              <a:t>&gt;9.000%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Próximos Passos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10698480" cy="4572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02920" cy="45720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28930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Confirmar reserva do Auditório MASP na SAP Brasil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28930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800"/>
                </a:solidFill>
              </a:rPr>
              <a:t>até 20/06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783080"/>
            <a:ext cx="502920" cy="45720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83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83794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Definir nome definitivo do evento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183794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800"/>
                </a:solidFill>
              </a:rPr>
              <a:t>até 20/06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331720"/>
            <a:ext cx="502920" cy="45720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331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38658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Confirmar case de sucesso com cliente (VALE / Klabin / Aegea)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38658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800"/>
                </a:solidFill>
              </a:rPr>
              <a:t>até 30/06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880360"/>
            <a:ext cx="502920" cy="45720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8803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93522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Produção dos materiais (convite, e-mails, anúncios, card WhatsApp)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9352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800"/>
                </a:solidFill>
              </a:rPr>
              <a:t>01/07 – 14/07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429000"/>
            <a:ext cx="502920" cy="45720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4290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48386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Início dos convites — E-mail 01 + LinkedIn 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4838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800"/>
                </a:solidFill>
              </a:rPr>
              <a:t>21/07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977640"/>
            <a:ext cx="502920" cy="45720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9776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03250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Disparo WhatsApp para base qualificada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403250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800"/>
                </a:solidFill>
              </a:rPr>
              <a:t>30/07 – 04/08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526280"/>
            <a:ext cx="502920" cy="45720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5262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58114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Execução do evento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458114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800"/>
                </a:solidFill>
              </a:rPr>
              <a:t>26/08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074920"/>
            <a:ext cx="502920" cy="45720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0749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F6C"/>
                </a:solidFill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129783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Follow-up e relatório de resultados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5129783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A800"/>
                </a:solidFill>
              </a:rPr>
              <a:t>27/08 – 05/09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263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F6C"/>
                </a:solidFill>
              </a:rPr>
              <a:t>solveplan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