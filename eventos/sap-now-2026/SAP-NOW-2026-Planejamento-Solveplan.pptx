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3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cla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377440"/>
            <a:ext cx="2560320" cy="1143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206240" y="2286000"/>
            <a:ext cx="228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80560" y="233172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SAP NOW AI Tour
Brazil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3429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6AFF"/>
                </a:solidFill>
                <a:latin typeface="Calibri"/>
              </a:rPr>
              <a:t>Planejamento Solveplan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931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  <a:latin typeface="Calibri"/>
              </a:rPr>
              <a:t>9 e 10 de setembro de 2026  |  Transamérica Expo Center — São Paulo</a:t>
            </a:r>
          </a:p>
        </p:txBody>
      </p:sp>
      <p:pic>
        <p:nvPicPr>
          <p:cNvPr id="7" name="Picture 6" descr="logo-cla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837"/>
                </a:solidFill>
                <a:latin typeface="Calibri"/>
              </a:rPr>
              <a:t>•  Geração de leads qualificados — meta: 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81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837"/>
                </a:solidFill>
                <a:latin typeface="Calibri"/>
              </a:rPr>
              <a:t>•  Geração de reuniões agendadas — meta: 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65376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837"/>
                </a:solidFill>
                <a:latin typeface="Calibri"/>
              </a:rPr>
              <a:t>•  Posicionar Solveplan como referência em SAP Business Data Cloud (BDC)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9424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837"/>
                </a:solidFill>
                <a:latin typeface="Calibri"/>
              </a:rPr>
              <a:t>•  Fomentar relacionamento com clientes e expandir networking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A0837"/>
                </a:solidFill>
                <a:latin typeface="Calibri"/>
              </a:rPr>
              <a:t>•  Gerar pipeline de novos negócios — meta: R$ 3.200.000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120640"/>
            <a:ext cx="11155680" cy="65836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193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💡  Mensagem-chave: "Seus dados existem — mas você ainda demora dias para fechar o mês. Em 2026, isso é risco. A Solveplan resolve."</a:t>
            </a:r>
          </a:p>
        </p:txBody>
      </p:sp>
      <p:pic>
        <p:nvPicPr>
          <p:cNvPr id="11" name="Picture 10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0881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2152" y="108813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SAP Business Data Cloud (BDC) — foco principal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72184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087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Objetivo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50876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Geração de demanda + conversão de leads (deals no pipe)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92808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9293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Etapa do funil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1929384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Meio e fundo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13432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35000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Período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350008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Jun, Jul, Ago, Set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34056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7706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Target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7706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+R$ 500M faturamento / cross industry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54680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19125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Persona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3191256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CIO, CFO, Controller, Head de Dados/BI, COO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75304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6118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Conversão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52" y="3611880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Evento SAP NOW AI Tour 2026</a:t>
            </a:r>
          </a:p>
        </p:txBody>
      </p:sp>
      <p:pic>
        <p:nvPicPr>
          <p:cNvPr id="25" name="Picture 24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Detalhes do Evento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0881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Datas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6472" y="108813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9 e 10 de setembro de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72184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087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Horário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150876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Das 8h às 19h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92808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92938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Local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1929384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Transamérica Expo Center — São Paulo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13432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3500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Audiência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35000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3.900 pessoas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34056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7706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Clientes/Prospects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770632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2.700  |  Decision Makers: 73%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154680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31912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Patrocinadores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6472" y="3191256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75304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36118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Cota Solveplan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6472" y="3611880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Gold — inclui 1 sessão de conteúdo de 20 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95928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03250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Tema do evento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6472" y="4032504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Bring it at SAP NOW AI Tour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416552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4531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Nossa posição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6472" y="445312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A confirmar via manual CAEX (recebido em 18/05) — posição não privilegiada</a:t>
            </a:r>
          </a:p>
        </p:txBody>
      </p:sp>
      <p:pic>
        <p:nvPicPr>
          <p:cNvPr id="31" name="Picture 30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Metas e Critério de Sucesso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051560"/>
            <a:ext cx="59436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26464" y="1097280"/>
            <a:ext cx="5888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051560"/>
            <a:ext cx="25603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70064" y="1097280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Meta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5520" y="1051560"/>
            <a:ext cx="25603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30384" y="1097280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Ref.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453896"/>
            <a:ext cx="594360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6464" y="1481328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Leads totais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453896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0064" y="1481328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453896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30384" y="1481328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1856232"/>
            <a:ext cx="594360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6464" y="1883664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Leads qualificados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1856232"/>
            <a:ext cx="256032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1883664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44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856232"/>
            <a:ext cx="256032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0384" y="1883664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258568"/>
            <a:ext cx="594360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26464" y="2286000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Reuniões agendadas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258568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0064" y="2286000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2258568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0384" y="2286000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2660904"/>
            <a:ext cx="594360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6464" y="2688336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Oportunidades abertas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660904"/>
            <a:ext cx="256032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0064" y="2688336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0" y="2660904"/>
            <a:ext cx="256032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30384" y="2688336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3063240"/>
            <a:ext cx="594360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26464" y="3090672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Pipeline gerado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3063240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0064" y="3090672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R$ 3.200.000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3063240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0384" y="3090672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371600" y="3465576"/>
            <a:ext cx="594360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26464" y="3493008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Empresas abordadas SDR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3465576"/>
            <a:ext cx="256032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70064" y="3493008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120+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75520" y="3465576"/>
            <a:ext cx="256032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30384" y="3493008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72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3867912"/>
            <a:ext cx="594360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26464" y="3895344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Agendas via SDR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0" y="3867912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70064" y="3895344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3867912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30384" y="3895344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371600" y="4270248"/>
            <a:ext cx="594360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426464" y="4297680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Custo por lead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0" y="4270248"/>
            <a:ext cx="256032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70064" y="4297680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R$ 2.127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20" y="4270248"/>
            <a:ext cx="2560320" cy="402336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30384" y="4297680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4672584"/>
            <a:ext cx="594360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26464" y="4700016"/>
            <a:ext cx="5888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ROI esperado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15200" y="4672584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70064" y="4700016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11,6x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75520" y="4672584"/>
            <a:ext cx="2560320" cy="402336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30384" y="4700016"/>
            <a:ext cx="25054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pic>
        <p:nvPicPr>
          <p:cNvPr id="64" name="Picture 63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Staff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55"/>
                </a:solidFill>
                <a:latin typeface="Calibri"/>
              </a:rPr>
              <a:t>Time a definir com sócios  |  Ref. 2025: 9 pessoas (8 credenciais patrocinador + 1 staff)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4008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417320"/>
            <a:ext cx="585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371600"/>
            <a:ext cx="41148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1417320"/>
            <a:ext cx="4059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1371600"/>
            <a:ext cx="27432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12664" y="1417320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Credencial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371600"/>
            <a:ext cx="4206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55864" y="1417320"/>
            <a:ext cx="4151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Obs.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73936"/>
            <a:ext cx="6400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801368"/>
            <a:ext cx="585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1–8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1773936"/>
            <a:ext cx="41148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1801368"/>
            <a:ext cx="4059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1773936"/>
            <a:ext cx="27432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2664" y="1801368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Patrocinador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773936"/>
            <a:ext cx="420624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1801368"/>
            <a:ext cx="4151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57984"/>
            <a:ext cx="6400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2185416"/>
            <a:ext cx="585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2157984"/>
            <a:ext cx="411480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97864" y="2185416"/>
            <a:ext cx="40599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800" y="2157984"/>
            <a:ext cx="274320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2664" y="218541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Staff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2157984"/>
            <a:ext cx="420624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55864" y="2185416"/>
            <a:ext cx="4151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Organização geral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2606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Regras de credencial: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9718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Até 4 trocas/dia — proibido das 12h às 14h (exige documento)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3558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Retirada dia 08/set no CAEX (8h–18h) ou 09–10/set no credenciamento (8h–17h)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37398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Credencial pessoal e intransferível — nenhum profissional entra sem ela visível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160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Escala por turno (preencher com nomes):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480560"/>
            <a:ext cx="777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4526280"/>
            <a:ext cx="722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80160" y="4480560"/>
            <a:ext cx="1920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5024" y="452628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Montagem 08/set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0" y="4480560"/>
            <a:ext cx="1920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5264" y="452628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 1 — Manhã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20640" y="4480560"/>
            <a:ext cx="1920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452628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 1 — Tarde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4480560"/>
            <a:ext cx="1920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95744" y="452628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 2 — Manhã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4480560"/>
            <a:ext cx="1920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15984" y="452628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 2 — Tarde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882896"/>
            <a:ext cx="777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7784" y="4910328"/>
            <a:ext cx="722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1–8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80160" y="4882896"/>
            <a:ext cx="1920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35024" y="491032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882896"/>
            <a:ext cx="1920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55264" y="491032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20640" y="4882896"/>
            <a:ext cx="1920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75504" y="491032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40880" y="4882896"/>
            <a:ext cx="1920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95744" y="491032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4882896"/>
            <a:ext cx="1920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15984" y="4910328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5230368"/>
            <a:ext cx="777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57784" y="5257800"/>
            <a:ext cx="722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9 (Fran)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80160" y="5230368"/>
            <a:ext cx="1920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35024" y="5257800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5230368"/>
            <a:ext cx="1920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55264" y="5257800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20640" y="5230368"/>
            <a:ext cx="1920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75504" y="5257800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40880" y="5230368"/>
            <a:ext cx="1920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095744" y="5257800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61120" y="5230368"/>
            <a:ext cx="1920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15984" y="5257800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pic>
        <p:nvPicPr>
          <p:cNvPr id="70" name="Picture 69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Ativação do Estande — Quiz BDC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577840" cy="868680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AFF"/>
                </a:solidFill>
                <a:latin typeface="Calibri"/>
              </a:rPr>
              <a:t>Totem touchscreen 43" — Quiz interativo BDC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Visitante descobre qual solução SAP resolve sua dor em ~3 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051560"/>
            <a:ext cx="5486400" cy="868680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11556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FFF96"/>
                </a:solidFill>
                <a:latin typeface="Calibri"/>
              </a:rPr>
              <a:t>Fornecedor: Entretec  ✓ aprovado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813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Ref.: R$ 9.800 totem + R$ 500 frete + R$ 450/dia promotor (opcional)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6 Pares Dor × Solução (foco BDC 2026):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468880"/>
            <a:ext cx="59436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514600"/>
            <a:ext cx="5888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Dor (vermelho — visitante escolhe)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468880"/>
            <a:ext cx="562356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2514600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Solução (verde — resultado)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871216"/>
            <a:ext cx="59436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2898648"/>
            <a:ext cx="5888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Fechamento manual demorado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871216"/>
            <a:ext cx="562356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1384" y="2898648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 BDC + Group Reporting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55264"/>
            <a:ext cx="594360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" y="3282696"/>
            <a:ext cx="5888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Dados desconectados entre sistemas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255264"/>
            <a:ext cx="562356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3282696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 Datasphere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39312"/>
            <a:ext cx="59436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" y="3666744"/>
            <a:ext cx="5888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Falta de visibilidade em tempo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3639312"/>
            <a:ext cx="562356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3666744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 Analytics Cloud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023360"/>
            <a:ext cx="594360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7784" y="4050792"/>
            <a:ext cx="5888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Planejamento orçamentário no Excel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4023360"/>
            <a:ext cx="562356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4050792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 SAC Planning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407408"/>
            <a:ext cx="59436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4434840"/>
            <a:ext cx="5888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Integrações travando processos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4407408"/>
            <a:ext cx="562356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4" y="4434840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 BTP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791456"/>
            <a:ext cx="594360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" y="4818888"/>
            <a:ext cx="5888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Gestão fiscal engessada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791456"/>
            <a:ext cx="562356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1384" y="4818888"/>
            <a:ext cx="5568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 PaPM</a:t>
            </a:r>
          </a:p>
        </p:txBody>
      </p:sp>
      <p:pic>
        <p:nvPicPr>
          <p:cNvPr id="39" name="Picture 38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Jornada do Visitante — Ativação Quiz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3749039" cy="214884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3749039" cy="3657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49039" cy="40233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064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1. Atração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Totem animado chama atenção. Equipe aborda:
'Faz o quiz e descobre qual SAP resolve sua dor. Leva brinde!'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051560"/>
            <a:ext cx="3749039" cy="214884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0248" y="1051560"/>
            <a:ext cx="3749039" cy="36576"/>
          </a:xfrm>
          <a:prstGeom prst="rect">
            <a:avLst/>
          </a:prstGeom>
          <a:solidFill>
            <a:srgbClr val="7FF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051560"/>
            <a:ext cx="3749039" cy="40233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1064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2. Engajamento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50876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Preenche nome, cargo, empresa, e-mail, WhatsApp.
Participa em menos de 3 minutos.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0456" y="1051560"/>
            <a:ext cx="3749039" cy="214884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1051560"/>
            <a:ext cx="3749039" cy="3657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0456" y="1051560"/>
            <a:ext cx="3749039" cy="40233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11064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3. Qualificação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50876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Quiz revela dor principal + solução SAP.
Lead categorizado: Quente / Morno / Frio.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37560"/>
            <a:ext cx="3749039" cy="214884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337560"/>
            <a:ext cx="3749039" cy="36576"/>
          </a:xfrm>
          <a:prstGeom prst="rect">
            <a:avLst/>
          </a:prstGeom>
          <a:solidFill>
            <a:srgbClr val="7FF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37560"/>
            <a:ext cx="3749039" cy="40233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924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4. Brinde + Conversa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379476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Equipe entrega brinde e inicia conversa consultiva:
'Vi que você marcou [dor X]… posso mostrar como a Klabin resolveu isso?'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70248" y="3337560"/>
            <a:ext cx="3749039" cy="214884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70248" y="3337560"/>
            <a:ext cx="3749039" cy="3657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70248" y="3337560"/>
            <a:ext cx="3749039" cy="40233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33924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5. CRM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79476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Dados capturados vão para HubSpot.
Tag: SAP-NOW-2026 + classificação automática.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0456" y="3337560"/>
            <a:ext cx="3749039" cy="214884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0456" y="3337560"/>
            <a:ext cx="3749039" cy="36576"/>
          </a:xfrm>
          <a:prstGeom prst="rect">
            <a:avLst/>
          </a:prstGeom>
          <a:solidFill>
            <a:srgbClr val="7FFF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0456" y="3337560"/>
            <a:ext cx="3749039" cy="40233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3392424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6. Follow-up D+3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3794760"/>
            <a:ext cx="3566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SDR contata em até 3 dias:
'Conforme seu quiz, acredito que podemos ajudar com [dor]. Agendamos?'</a:t>
            </a:r>
          </a:p>
        </p:txBody>
      </p:sp>
      <p:pic>
        <p:nvPicPr>
          <p:cNvPr id="34" name="Picture 33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Brindes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44455"/>
                </a:solidFill>
                <a:latin typeface="Calibri"/>
              </a:rPr>
              <a:t>Fornecedor referência: Unity Brindes (aprovado em 2025)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68580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417320"/>
            <a:ext cx="6803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1371600"/>
            <a:ext cx="13716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15784" y="141732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Qtd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1371600"/>
            <a:ext cx="1920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87384" y="141732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Valor unit.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652760" y="1371600"/>
            <a:ext cx="1920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07624" y="141732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73936"/>
            <a:ext cx="6858000" cy="42062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801368"/>
            <a:ext cx="6803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Bloco A5 capa dura (silk screen 1 cor)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773936"/>
            <a:ext cx="1371600" cy="42062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4" y="1801368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500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773936"/>
            <a:ext cx="1920240" cy="42062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87384" y="1801368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~R$ 15,59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52760" y="1773936"/>
            <a:ext cx="1920240" cy="42062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07624" y="1801368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~R$ 7.795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194560"/>
            <a:ext cx="6858000" cy="42062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2221992"/>
            <a:ext cx="6803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Caneta esferográfica alumínio (laser)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2194560"/>
            <a:ext cx="1371600" cy="42062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15784" y="2221992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500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32520" y="2194560"/>
            <a:ext cx="1920240" cy="42062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87384" y="2221992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~R$ 5,37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52760" y="2194560"/>
            <a:ext cx="1920240" cy="42062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07624" y="2221992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~R$ 2.685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615184"/>
            <a:ext cx="6858000" cy="42062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" y="2642616"/>
            <a:ext cx="68031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TOTAL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60920" y="2615184"/>
            <a:ext cx="1371600" cy="42062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15784" y="2642616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8732520" y="2615184"/>
            <a:ext cx="1920240" cy="42062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87384" y="2642616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2615184"/>
            <a:ext cx="1920240" cy="42062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07624" y="2642616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~R$ 10.480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3063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Regras SAP para brindes: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34290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837"/>
                </a:solidFill>
                <a:latin typeface="Calibri"/>
              </a:rPr>
              <a:t>•  Devem ser sustentáveis — caneta + moleskine está aprovado pela SAP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8130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837"/>
                </a:solidFill>
                <a:latin typeface="Calibri"/>
              </a:rPr>
              <a:t>•  ⚠️  Aprovação SAP: enviar junto com ativações até 31/07/2026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419709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0837"/>
                </a:solidFill>
                <a:latin typeface="Calibri"/>
              </a:rPr>
              <a:t>•  Entrega prevista: até 14/agosto (fornecedor a confirmar)</a:t>
            </a:r>
          </a:p>
        </p:txBody>
      </p:sp>
      <p:pic>
        <p:nvPicPr>
          <p:cNvPr id="41" name="Picture 40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Estande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292840" cy="457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837"/>
                </a:solidFill>
                <a:latin typeface="Calibri"/>
              </a:rPr>
              <a:t>⚠️  ATENÇÃO: Posição não privilegiada — toda estratégia deve ser de atração ativa.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Layout do estande: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Trainel (T1) — ~3,85m × 2,50m + espaço TV (1,45×0,83m) + balcão (0,50×1,00m) + Selo SAP Gold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41448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Painel (P1) — Logo Solveplan vertical + BDC em destaque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25496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Balcão (B1) — Identidade visual + 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Conceito visual 2026: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05740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Foco em SAP Business Data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414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Identidade Solveplan atualizada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2549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TV para vídeo looping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0954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Destaque: BDC | Datasphere | SAC | Group Reporting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Cronograma de produção: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82296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3886200"/>
            <a:ext cx="8174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Etapa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3840480"/>
            <a:ext cx="32918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87384" y="3886200"/>
            <a:ext cx="3236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Prazo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42816"/>
            <a:ext cx="822960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4270248"/>
            <a:ext cx="8174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Orçamento com agência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4242816"/>
            <a:ext cx="32918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7384" y="4270248"/>
            <a:ext cx="3236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Até 23/jun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90288"/>
            <a:ext cx="822960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4617720"/>
            <a:ext cx="8174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Arte final aprovada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4590288"/>
            <a:ext cx="32918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87384" y="4617720"/>
            <a:ext cx="3236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Até 11/jul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937760"/>
            <a:ext cx="822960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4965192"/>
            <a:ext cx="8174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Pagamento 1ª parcela (50%)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4937760"/>
            <a:ext cx="32918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87384" y="4965192"/>
            <a:ext cx="3236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10/jul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85232"/>
            <a:ext cx="822960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5312664"/>
            <a:ext cx="8174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Envio das artes exclusivas SAP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5285232"/>
            <a:ext cx="32918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87384" y="5312664"/>
            <a:ext cx="3236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11/jul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632704"/>
            <a:ext cx="822960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7784" y="5660136"/>
            <a:ext cx="81747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Pagamento 2ª parcela (50%)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5632704"/>
            <a:ext cx="32918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87384" y="5660136"/>
            <a:ext cx="3236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Na entrega</a:t>
            </a:r>
          </a:p>
        </p:txBody>
      </p:sp>
      <p:pic>
        <p:nvPicPr>
          <p:cNvPr id="40" name="Picture 39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Vestimenta, Serviços CAEX e Equipamentos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Vestimenta: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3035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417320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Produto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806440" y="1371600"/>
            <a:ext cx="13716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61304" y="141732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Qtd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371600"/>
            <a:ext cx="1920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2904" y="141732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Valor unit.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98280" y="1371600"/>
            <a:ext cx="1920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144" y="141732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73936"/>
            <a:ext cx="530352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1801368"/>
            <a:ext cx="52486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Tech T-Shirt personalizada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1773936"/>
            <a:ext cx="13716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61304" y="180136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25 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773936"/>
            <a:ext cx="192024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1801368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~R$ 115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1773936"/>
            <a:ext cx="192024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1801368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~R$ 2.875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1945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Serviços adicionais CAEX: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14600"/>
            <a:ext cx="68580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2560320"/>
            <a:ext cx="6803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0920" y="2514600"/>
            <a:ext cx="13716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15784" y="256032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Qtd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2514600"/>
            <a:ext cx="23317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87384" y="256032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916936"/>
            <a:ext cx="685800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2944368"/>
            <a:ext cx="6803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Coletor de dados (por dia)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60920" y="2916936"/>
            <a:ext cx="137160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5784" y="2944368"/>
            <a:ext cx="1316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2916936"/>
            <a:ext cx="233172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87384" y="2944368"/>
            <a:ext cx="2276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~R$ 1.100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282696"/>
            <a:ext cx="685800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3310128"/>
            <a:ext cx="6803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KVA energia (totem consume 2–3 KVAs)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60920" y="3282696"/>
            <a:ext cx="137160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15784" y="3310128"/>
            <a:ext cx="1316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282696"/>
            <a:ext cx="233172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87384" y="3310128"/>
            <a:ext cx="2276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~R$ 780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648456"/>
            <a:ext cx="685800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3675888"/>
            <a:ext cx="68031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Internet (pacote a definir)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60920" y="3648456"/>
            <a:ext cx="137160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15784" y="3675888"/>
            <a:ext cx="1316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32520" y="3648456"/>
            <a:ext cx="233172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87384" y="3675888"/>
            <a:ext cx="22768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Equipamentos: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141732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837"/>
                </a:solidFill>
                <a:latin typeface="Calibri"/>
              </a:rPr>
              <a:t>•  TV + suporte + cabos (verificar CAEX)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176479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837"/>
                </a:solidFill>
                <a:latin typeface="Calibri"/>
              </a:rPr>
              <a:t>•  1 Tablet para demos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211226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837"/>
                </a:solidFill>
                <a:latin typeface="Calibri"/>
              </a:rPr>
              <a:t>•  2 Pens drive vídeo looping (TV) + 1 backup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24597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837"/>
                </a:solidFill>
                <a:latin typeface="Calibri"/>
              </a:rPr>
              <a:t>•  2 Cabos HDMI + adaptador de rede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28072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837"/>
                </a:solidFill>
                <a:latin typeface="Calibri"/>
              </a:rPr>
              <a:t>•  Régua de energia / extensão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315468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837"/>
                </a:solidFill>
                <a:latin typeface="Calibri"/>
              </a:rPr>
              <a:t>•  Carregadores de celular + pano e álcool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350215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837"/>
                </a:solidFill>
                <a:latin typeface="Calibri"/>
              </a:rPr>
              <a:t>•  Agenda das sessões impressa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384962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0837"/>
                </a:solidFill>
                <a:latin typeface="Calibri"/>
              </a:rPr>
              <a:t>•  2 displays QR Code (~R$ 22 un.) + 1 reserva</a:t>
            </a:r>
          </a:p>
        </p:txBody>
      </p:sp>
      <p:pic>
        <p:nvPicPr>
          <p:cNvPr id="55" name="Picture 54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Conteúdo do Evento — Apresentação Principal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292840" cy="4754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837"/>
                </a:solidFill>
                <a:latin typeface="Calibri"/>
              </a:rPr>
              <a:t>⚠️  Prazo de submissão para SAP: 26/06/2026 — NÃO PODE ATRASAR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45920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824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Tipo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36392" y="1682496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Caso de Sucesso — Customer Story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66544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103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Formato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103120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20 minutos | Auditório ~50 lugares | Sem Q&amp;A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87168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5237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Palestrante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2523744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Executivo Klabin — CFO/CIO/Head de Dados (a confirmar até 10/06)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07792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944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Palestrante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2944368"/>
            <a:ext cx="9052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Alexandre Kuntgen (Solveplan)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Estrutura da sessão (20 min):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67328"/>
            <a:ext cx="13716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" y="381304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Tempo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20" y="3767328"/>
            <a:ext cx="7498079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9384" y="3813048"/>
            <a:ext cx="7443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Bloco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72599" y="3767328"/>
            <a:ext cx="27432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27463" y="3813048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Speaker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69664"/>
            <a:ext cx="13716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4197096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0–3 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20" y="4169664"/>
            <a:ext cx="7498079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9384" y="4197096"/>
            <a:ext cx="7443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O desafio: como era antes, a dor real de dados na Klabin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599" y="4169664"/>
            <a:ext cx="27432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27463" y="4197096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Executivo Klabin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553712"/>
            <a:ext cx="137160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4581144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3–8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20" y="4553712"/>
            <a:ext cx="7498079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9384" y="4581144"/>
            <a:ext cx="7443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decisão: por que SAP BDC, por que Solveplan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599" y="4553712"/>
            <a:ext cx="274320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3" y="4581144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Alexandre Kuntgen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937760"/>
            <a:ext cx="13716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" y="4965192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8–15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4520" y="4937760"/>
            <a:ext cx="7498079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9384" y="4965192"/>
            <a:ext cx="7443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O que mudou: antes × depois com números reais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599" y="4937760"/>
            <a:ext cx="27432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27463" y="4965192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Executivo Klabin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5321808"/>
            <a:ext cx="137160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" y="534924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15–18 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74520" y="5321808"/>
            <a:ext cx="7498079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9384" y="5349240"/>
            <a:ext cx="7443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O futuro: próximos passos com IA (alinha com tema do evento)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72599" y="5321808"/>
            <a:ext cx="274320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27463" y="5349240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Ambos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705856"/>
            <a:ext cx="13716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" y="5733288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18–20 min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5705856"/>
            <a:ext cx="7498079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29384" y="5733288"/>
            <a:ext cx="74432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CTA: 'Venha ao nosso estande — estamos no slot [X]'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599" y="5705856"/>
            <a:ext cx="274320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27463" y="5733288"/>
            <a:ext cx="26883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Alexandre Kuntgen</a:t>
            </a:r>
          </a:p>
        </p:txBody>
      </p:sp>
      <p:pic>
        <p:nvPicPr>
          <p:cNvPr id="55" name="Picture 54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56" name="Rectangle 55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Comunicação — Social Media &amp; E-mails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Calendário de publicações (LinkedIn):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53312"/>
            <a:ext cx="16459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" y="1399032"/>
            <a:ext cx="15910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353312"/>
            <a:ext cx="99212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03704" y="1399032"/>
            <a:ext cx="9866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Publicação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55648"/>
            <a:ext cx="164592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783080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21/jul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755648"/>
            <a:ext cx="9921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03704" y="1783080"/>
            <a:ext cx="9866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Primeiro post — 'Estaremos no SAP NOW 2026'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03120"/>
            <a:ext cx="164592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213055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30/jul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2103120"/>
            <a:ext cx="9921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03704" y="2130552"/>
            <a:ext cx="9866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Post de expectativa / sessão com Klabin anunciada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50592"/>
            <a:ext cx="164592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2478024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11/ago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2450592"/>
            <a:ext cx="9921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03704" y="2478024"/>
            <a:ext cx="9866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Post de contagem regressiva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798064"/>
            <a:ext cx="164592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2825496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01/set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798064"/>
            <a:ext cx="9921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03704" y="2825496"/>
            <a:ext cx="9866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'Em 8 dias estaremos lá'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145536"/>
            <a:ext cx="164592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" y="3172968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08/set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8840" y="3145536"/>
            <a:ext cx="9921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03704" y="3172968"/>
            <a:ext cx="9866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'É amanhã!' — com localização do estande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93008"/>
            <a:ext cx="164592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7784" y="3520440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09/set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3493008"/>
            <a:ext cx="9921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03704" y="3520440"/>
            <a:ext cx="9866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Cobertura ao vivo — Dia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840480"/>
            <a:ext cx="164592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" y="3867912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10/set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3840480"/>
            <a:ext cx="99212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03704" y="3867912"/>
            <a:ext cx="9866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Cobertura ao vivo — Dia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187952"/>
            <a:ext cx="164592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" y="4215384"/>
            <a:ext cx="15910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11/set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4187952"/>
            <a:ext cx="99212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03704" y="4215384"/>
            <a:ext cx="9866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Post pós-evento — highlights + agradecimento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E-mails Marketing: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7548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Save the date → Base geral (Mai/Jun)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1389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Convite + link inscrição → Prospects e clientes (Jun/Jul)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52297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Lembrete sessão Klabin → Inscritos confirmados (Ago)  |  'É amanhã!' (08/set)  |  Agradecimento D+1</a:t>
            </a:r>
          </a:p>
        </p:txBody>
      </p:sp>
      <p:pic>
        <p:nvPicPr>
          <p:cNvPr id="45" name="Picture 44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Comunicação — Anúncios e UTMs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5349240" cy="2377440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155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FF"/>
                </a:solidFill>
                <a:latin typeface="Calibri"/>
              </a:rPr>
              <a:t>1. Anúncios em Hotéis 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 Período: 8, 9 e 10 de setembro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 ~28 faces/telas em hotéis da região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 Valor ref.: R$ 2.805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151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 Aprovação: antes de 31/ago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051560"/>
            <a:ext cx="5349240" cy="2377440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1155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6AFF"/>
                </a:solidFill>
                <a:latin typeface="Calibri"/>
              </a:rPr>
              <a:t>2. Geolocalização no Evento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 Google Ads + LinkedIn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202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 Raio: 20km do Transamerica Expo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2677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 Período: 8, 9 e 10 de setembro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151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 'Estamos no SAP NOW — venha ao estande Solveplan'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9626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•  Valor: a orçar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UTMs Padrão: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950208"/>
            <a:ext cx="34747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" y="3995928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77640" y="3950208"/>
            <a:ext cx="22860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2504" y="399592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UTM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950208"/>
            <a:ext cx="22860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399592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UTM 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3950208"/>
            <a:ext cx="35204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04504" y="3995928"/>
            <a:ext cx="3465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UTM Campaign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52544"/>
            <a:ext cx="347472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" y="4379976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Organic Social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40" y="4352544"/>
            <a:ext cx="228600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32504" y="4379976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linkedin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352544"/>
            <a:ext cx="228600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18504" y="4379976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organic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49640" y="4352544"/>
            <a:ext cx="35204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04504" y="4379976"/>
            <a:ext cx="3465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sap-now-2026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00016"/>
            <a:ext cx="347472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7784" y="4727448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Paid Social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77640" y="4700016"/>
            <a:ext cx="228600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32504" y="4727448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linkedin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700016"/>
            <a:ext cx="228600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18504" y="4727448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cpc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49640" y="4700016"/>
            <a:ext cx="35204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04504" y="4727448"/>
            <a:ext cx="3465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sap-now-2026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047488"/>
            <a:ext cx="347472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7784" y="5074920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E-mail Marketing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77640" y="5047488"/>
            <a:ext cx="228600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32504" y="5074920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email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5047488"/>
            <a:ext cx="228600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18504" y="5074920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newsletter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9640" y="5047488"/>
            <a:ext cx="35204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04504" y="5074920"/>
            <a:ext cx="3465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sap-now-2026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394960"/>
            <a:ext cx="347472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7784" y="5422392"/>
            <a:ext cx="3419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Form inscrição SAP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77640" y="5394960"/>
            <a:ext cx="228600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32504" y="5422392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5394960"/>
            <a:ext cx="228600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18504" y="5422392"/>
            <a:ext cx="22311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event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49640" y="5394960"/>
            <a:ext cx="35204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04504" y="5422392"/>
            <a:ext cx="3465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sap-now-2026</a:t>
            </a:r>
          </a:p>
        </p:txBody>
      </p:sp>
      <p:pic>
        <p:nvPicPr>
          <p:cNvPr id="58" name="Picture 57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Geração de Demanda Pré-evento — SDR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10881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87752" y="108813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Preencher slots de diagnóstico BDC no estande antes do evento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72184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08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Meta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7752" y="15087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120 empresas abordadas → 12 agendas confirmadas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92808"/>
            <a:ext cx="11612880" cy="38404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9293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Início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7752" y="1929384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Junho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13432"/>
            <a:ext cx="11612880" cy="38404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35000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837"/>
                </a:solidFill>
                <a:latin typeface="Calibri"/>
              </a:rPr>
              <a:t>SDRs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2350008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837"/>
                </a:solidFill>
                <a:latin typeface="Calibri"/>
              </a:rPr>
              <a:t>2 SDRs (nomes a definir)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926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Processo: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918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1. SDR identifica decisor (CIO/CFO/Head de Dados) nas empresas-alvo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7588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2. Abordagem por e-mail + LinkedIn + telefone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05993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3. Convite para slot de diagnóstico BDC no estande (15–20 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443984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4. Confirmar agenda + registrar no CRM com tag SAP-NOW-2026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92040"/>
            <a:ext cx="11292840" cy="74980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56048"/>
            <a:ext cx="11064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FF96"/>
                </a:solidFill>
                <a:latin typeface="Calibri"/>
              </a:rPr>
              <a:t>📞  Script SDR:
"[Nome], estaremos no SAP NOW AI Tour em setembro com demo exclusiva de SAP BDC. Tenho um slot de 15 min reservado para você no estande da Solveplan — posso garantir o seu?"</a:t>
            </a:r>
          </a:p>
        </p:txBody>
      </p:sp>
      <p:pic>
        <p:nvPicPr>
          <p:cNvPr id="23" name="Picture 22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Cronograma Macro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73736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1097280"/>
            <a:ext cx="16824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1051560"/>
            <a:ext cx="813816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57984" y="1097280"/>
            <a:ext cx="8083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Entrega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41280" y="1051560"/>
            <a:ext cx="23317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6144" y="1097280"/>
            <a:ext cx="2276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Responsável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53896"/>
            <a:ext cx="17373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" y="1481328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18/05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1453896"/>
            <a:ext cx="81381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57984" y="1481328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Receber manual patrocinador CAEX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0" y="1453896"/>
            <a:ext cx="233172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96144" y="1481328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792224"/>
            <a:ext cx="17373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819656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Mai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1792224"/>
            <a:ext cx="81381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57984" y="1819656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Lançar campanha 'Diagnóstico BDC Reservado'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1792224"/>
            <a:ext cx="233172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96144" y="1819656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30552"/>
            <a:ext cx="17373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" y="2157984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10/06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0" y="2130552"/>
            <a:ext cx="81381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57984" y="2157984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⚠️ Alinhar com Klabin — speaker e tema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0" y="2130552"/>
            <a:ext cx="233172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96144" y="2157984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468880"/>
            <a:ext cx="17373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" y="2496312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26/06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468880"/>
            <a:ext cx="81381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57984" y="2496312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⚠️ Submeter sessão de conteúdo para SAP (CRÍTICO)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41280" y="2468880"/>
            <a:ext cx="233172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6144" y="2496312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2807208"/>
            <a:ext cx="17373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2834640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02/jun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03120" y="2807208"/>
            <a:ext cx="81381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57984" y="2834640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Liberação do site e abertura de registros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241280" y="2807208"/>
            <a:ext cx="233172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296144" y="2834640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145536"/>
            <a:ext cx="17373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3172968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Jun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03120" y="3145536"/>
            <a:ext cx="81381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157984" y="3172968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Início abordagem SDR (2 SDRs)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80" y="3145536"/>
            <a:ext cx="233172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96144" y="3172968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SDRs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483864"/>
            <a:ext cx="17373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3511296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31/07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3483864"/>
            <a:ext cx="81381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57984" y="3511296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⚠️ Aprovação de ativações e brindes para SAP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41280" y="3483864"/>
            <a:ext cx="233172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96144" y="3511296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822192"/>
            <a:ext cx="17373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" y="3849624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14/ago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3120" y="3822192"/>
            <a:ext cx="81381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57984" y="3849624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Recebimento de brindes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41280" y="3822192"/>
            <a:ext cx="233172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96144" y="3849624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Fornecedor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4160520"/>
            <a:ext cx="17373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0624" y="4187952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25/ago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03120" y="4160520"/>
            <a:ext cx="81381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57984" y="4187952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App do evento lança / publicar slots diagnóstico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241280" y="4160520"/>
            <a:ext cx="233172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96144" y="4187952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SAP / Fran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4498848"/>
            <a:ext cx="17373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0624" y="4526280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Set/1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103120" y="4498848"/>
            <a:ext cx="81381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157984" y="4526280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Treinamento e kickoff do time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41280" y="4498848"/>
            <a:ext cx="233172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96144" y="4526280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837176"/>
            <a:ext cx="17373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20624" y="4864608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08/set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103120" y="4837176"/>
            <a:ext cx="81381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57984" y="4864608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Montagem do estande + entrega todos os itens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41280" y="4837176"/>
            <a:ext cx="233172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96144" y="4864608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Time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175504"/>
            <a:ext cx="17373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0624" y="5202936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09–10/set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03120" y="5175504"/>
            <a:ext cx="81381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157984" y="5202936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⭐ SAP NOW AI Tour Brazil 2026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41280" y="5175504"/>
            <a:ext cx="233172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96144" y="5202936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5513832"/>
            <a:ext cx="17373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0624" y="5541264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10/set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103120" y="5513832"/>
            <a:ext cx="813816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157984" y="5541264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Download mailing + início follow-up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241280" y="5513832"/>
            <a:ext cx="2331720" cy="338328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296144" y="5541264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SDRs + Fran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5760" y="5852160"/>
            <a:ext cx="17373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20624" y="5879592"/>
            <a:ext cx="16824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16/set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03120" y="5852160"/>
            <a:ext cx="813816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57984" y="5879592"/>
            <a:ext cx="808329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Relatório de resultados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241280" y="5852160"/>
            <a:ext cx="2331720" cy="338328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296144" y="5879592"/>
            <a:ext cx="2276856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Fran</a:t>
            </a:r>
          </a:p>
        </p:txBody>
      </p:sp>
      <p:pic>
        <p:nvPicPr>
          <p:cNvPr id="94" name="Picture 93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95" name="Rectangle 94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Orçamento Previsto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051560"/>
            <a:ext cx="89611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9264" y="1097280"/>
            <a:ext cx="8906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9875520" y="1051560"/>
            <a:ext cx="25603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30384" y="1097280"/>
            <a:ext cx="2505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Valor previsto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453896"/>
            <a:ext cx="89611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481328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Produção do estande (arte + layout)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453896"/>
            <a:ext cx="25603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30384" y="1481328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~R$ 3.700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828800"/>
            <a:ext cx="89611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1856232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Quiz/Totem interativo (Entretec)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828800"/>
            <a:ext cx="25603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30384" y="1856232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~R$ 11.200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203704"/>
            <a:ext cx="89611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2231136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Brindes (canetas + moleskine — 500 un.)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2203704"/>
            <a:ext cx="25603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0384" y="2231136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~R$ 10.480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2578608"/>
            <a:ext cx="89611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2606040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Camisetas equipe (25 un.)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75520" y="2578608"/>
            <a:ext cx="25603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30384" y="2606040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~R$ 2.875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2953512"/>
            <a:ext cx="89611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2980944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Cartões de visita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0" y="2953512"/>
            <a:ext cx="25603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0384" y="2980944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~R$ 3.700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3328416"/>
            <a:ext cx="89611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9264" y="3355848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Coletores de dados CAEX (2 un.)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3328416"/>
            <a:ext cx="25603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0384" y="3355848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~R$ 1.100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703320"/>
            <a:ext cx="89611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3730752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KVA energia (2 un.)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3703320"/>
            <a:ext cx="25603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0384" y="3730752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~R$ 780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4078224"/>
            <a:ext cx="89611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9264" y="4105656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Anúncios hotéis SP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0" y="4078224"/>
            <a:ext cx="25603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30384" y="4105656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~R$ 2.805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4453128"/>
            <a:ext cx="89611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9264" y="4480560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Vídeo looping + depoimentos + teasers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4453128"/>
            <a:ext cx="25603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30384" y="4480560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~R$ 5.280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4828032"/>
            <a:ext cx="89611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9264" y="4855464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Anúncios geolocalização (Google + LinkedIn)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20" y="4828032"/>
            <a:ext cx="25603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30384" y="4855464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orçar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5202936"/>
            <a:ext cx="89611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9264" y="5230368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Hotel equipe + Internet CAEX + Campanha LinkedIn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5202936"/>
            <a:ext cx="25603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30384" y="5230368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5577840"/>
            <a:ext cx="89611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9264" y="5605272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Adicionais (displays, cabos, etc.)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75520" y="5577840"/>
            <a:ext cx="2560320" cy="374904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30384" y="5605272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~R$ 500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5952744"/>
            <a:ext cx="89611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9264" y="5980176"/>
            <a:ext cx="89062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TOTAL DISPONÍVEL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75520" y="5952744"/>
            <a:ext cx="2560320" cy="374904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30384" y="5980176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R$ 276.510,21</a:t>
            </a:r>
          </a:p>
        </p:txBody>
      </p:sp>
      <p:pic>
        <p:nvPicPr>
          <p:cNvPr id="60" name="Picture 59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Convite a Clientes C-Level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51560"/>
            <a:ext cx="11292840" cy="47548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FFF96"/>
                </a:solidFill>
                <a:latin typeface="Calibri"/>
              </a:rPr>
              <a:t>Benefício Gold: convites ilimitados para clientes C-level do patrocinador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Critérios SAP: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C-level / Diretoria — preferencialmente em São Paulo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871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Máximo 2 contatos por empresa/conta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7121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Todos passam por aprovação SAP antes da confirmação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Processo: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0312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1. Enviar convite personalizado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4871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2. Participante se inscreve pelo 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871216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3. SAP analisa e confirma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25526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4. Participante recebe e-mail de confirmação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Lista estratégica — até 15 clientes (definir com sócios até 10/ago):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22191"/>
            <a:ext cx="365760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3867911"/>
            <a:ext cx="3602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Empresa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822191"/>
            <a:ext cx="292608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5384" y="3867911"/>
            <a:ext cx="2871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Contato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86600" y="3822191"/>
            <a:ext cx="292608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3867911"/>
            <a:ext cx="287121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Cargo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12680" y="3822191"/>
            <a:ext cx="21031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67544" y="3867911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24527"/>
            <a:ext cx="365760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4251959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0520" y="4224527"/>
            <a:ext cx="292608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5384" y="425195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86600" y="4224527"/>
            <a:ext cx="292608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41464" y="425195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4224527"/>
            <a:ext cx="210312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7544" y="4251959"/>
            <a:ext cx="2048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Pendente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590287"/>
            <a:ext cx="365760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4617719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4590287"/>
            <a:ext cx="292608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15384" y="461771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4590287"/>
            <a:ext cx="292608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41464" y="461771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12680" y="4590287"/>
            <a:ext cx="210312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67544" y="4617719"/>
            <a:ext cx="2048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Pendente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956047"/>
            <a:ext cx="365760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7784" y="4983479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0520" y="4956047"/>
            <a:ext cx="292608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15384" y="498347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086600" y="4956047"/>
            <a:ext cx="292608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41464" y="498347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4956047"/>
            <a:ext cx="210312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67544" y="4983479"/>
            <a:ext cx="2048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Pendente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321807"/>
            <a:ext cx="365760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7784" y="5349239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60520" y="5321807"/>
            <a:ext cx="292608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15384" y="534923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86600" y="5321807"/>
            <a:ext cx="292608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41464" y="534923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12680" y="5321807"/>
            <a:ext cx="2103120" cy="36576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67544" y="5349239"/>
            <a:ext cx="2048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Pendente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687567"/>
            <a:ext cx="365760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7784" y="5714999"/>
            <a:ext cx="3602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A definir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5687567"/>
            <a:ext cx="292608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15384" y="571499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86600" y="5687567"/>
            <a:ext cx="292608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41464" y="5714999"/>
            <a:ext cx="2871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12680" y="5687567"/>
            <a:ext cx="2103120" cy="36576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67544" y="5714999"/>
            <a:ext cx="2048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Pendente</a:t>
            </a:r>
          </a:p>
        </p:txBody>
      </p:sp>
      <p:pic>
        <p:nvPicPr>
          <p:cNvPr id="64" name="Picture 63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Vídeo Stand + Follow-up Pós-evento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Vídeo looping (TV do estande):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Cortes de cases (Klabin, clientes BDC) + comerciais SAP BDC + dashboards ao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013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Formato: MP4, 16:9, 1920×1080, looping contínuo  |  2 pens drive (principal + backup)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85416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Produção: a contratar  |  Prazo de entrega: até 25/ago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Vídeos durante o evento: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Shorts 9:16 para redes sociais  |  Depoimentos curtos com clientes  |  Gravação de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6440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837"/>
                </a:solidFill>
                <a:latin typeface="Calibri"/>
              </a:rPr>
              <a:t>•  Pacote depoimentos 4 vídeos ~R$ 3.680  |  Teasers (4 un.) ~R$ 1.600  |  Edição adicional ~R$ 890/un.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6AFF"/>
                </a:solidFill>
                <a:latin typeface="Calibri"/>
              </a:rPr>
              <a:t>Follow-up pós-evento (estruturado):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50791"/>
            <a:ext cx="11887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4096511"/>
            <a:ext cx="1133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91640" y="4050791"/>
            <a:ext cx="1037844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46504" y="4096511"/>
            <a:ext cx="103235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53127"/>
            <a:ext cx="118872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4480559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D+1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91640" y="4453127"/>
            <a:ext cx="103784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46504" y="4480559"/>
            <a:ext cx="10323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Consolidar leads + limpar dados + subir no HubSpot com tag SAP-NOW-2026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599"/>
            <a:ext cx="118872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4828031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D+1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91640" y="4800599"/>
            <a:ext cx="103784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46504" y="4828031"/>
            <a:ext cx="10323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Contato direto (e-mail/WhatsApp) — leads quentes têm prioridade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48071"/>
            <a:ext cx="118872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5175503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D+3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91640" y="5148071"/>
            <a:ext cx="103784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46504" y="5175503"/>
            <a:ext cx="10323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E-mail com material de valor (case BDC relevante para a dor do lead)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495543"/>
            <a:ext cx="118872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5522975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D+5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91640" y="5495543"/>
            <a:ext cx="10378440" cy="347472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46504" y="5522975"/>
            <a:ext cx="10323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Ligação — confirmar interesse e propor agendamento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843015"/>
            <a:ext cx="118872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5870447"/>
            <a:ext cx="11338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D+7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91640" y="5843015"/>
            <a:ext cx="10378440" cy="347472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46504" y="5870447"/>
            <a:ext cx="103235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Último contato da sequência — agendar ou encaminhar para nutrição</a:t>
            </a:r>
          </a:p>
        </p:txBody>
      </p:sp>
      <p:pic>
        <p:nvPicPr>
          <p:cNvPr id="36" name="Picture 35" descr="logo-escu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A08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8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6AFF"/>
                </a:solidFill>
                <a:latin typeface="Calibri"/>
              </a:rPr>
              <a:t>Próximos Passos Críticos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005840" cy="411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210312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1280160"/>
            <a:ext cx="20482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Prazo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234440"/>
            <a:ext cx="9509760" cy="40233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60904" y="1280160"/>
            <a:ext cx="9454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36776"/>
            <a:ext cx="2103120" cy="4572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" y="1664208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Hoje 18/05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636776"/>
            <a:ext cx="9509760" cy="4572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60904" y="1664208"/>
            <a:ext cx="94548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Ler manual CAEX — confirmar posição e regras do estande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093976"/>
            <a:ext cx="2103120" cy="4572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121408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Mai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2093976"/>
            <a:ext cx="9509760" cy="4572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0904" y="2121408"/>
            <a:ext cx="94548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Lançar campanha 'Diagnóstico BDC Reservado' (LinkedIn Ads)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51176"/>
            <a:ext cx="2103120" cy="4572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" y="2578608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10/06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2551176"/>
            <a:ext cx="9509760" cy="4572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60904" y="2578608"/>
            <a:ext cx="94548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⚠️ Alinhar com Klabin — speaker, cargo, tema da sessão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08376"/>
            <a:ext cx="2103120" cy="4572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" y="3035808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26/06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06040" y="3008376"/>
            <a:ext cx="9509760" cy="4572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0904" y="3035808"/>
            <a:ext cx="94548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⚠️ Submeter sessão de conteúdo para SAP  ← CRÍTICO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465576"/>
            <a:ext cx="2103120" cy="4572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" y="3493008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31/07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3465576"/>
            <a:ext cx="9509760" cy="4572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60904" y="3493008"/>
            <a:ext cx="94548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837"/>
                </a:solidFill>
                <a:latin typeface="Calibri"/>
              </a:rPr>
              <a:t>⚠️ Aprovação de ativações + brindes para SAP  ← CRÍTICO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922776"/>
            <a:ext cx="2103120" cy="4572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7784" y="3950208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08/set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3922776"/>
            <a:ext cx="9509760" cy="457200"/>
          </a:xfrm>
          <a:prstGeom prst="rect">
            <a:avLst/>
          </a:prstGeom>
          <a:solidFill>
            <a:srgbClr val="EB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60904" y="3950208"/>
            <a:ext cx="94548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Montagem do estande + entrega de todos os itens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379976"/>
            <a:ext cx="2103120" cy="4572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" y="4407408"/>
            <a:ext cx="204825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09–10/set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06040" y="4379976"/>
            <a:ext cx="9509760" cy="457200"/>
          </a:xfrm>
          <a:prstGeom prst="rect">
            <a:avLst/>
          </a:prstGeom>
          <a:solidFill>
            <a:srgbClr val="D6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60904" y="4407408"/>
            <a:ext cx="945489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0837"/>
                </a:solidFill>
                <a:latin typeface="Calibri"/>
              </a:rPr>
              <a:t>⭐ SAP NOW AI Tour Brazil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715000"/>
            <a:ext cx="11292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BB"/>
                </a:solidFill>
                <a:latin typeface="Calibri"/>
              </a:rPr>
              <a:t>SAP NOW AI Tour Brazil 2026  |  9–10 Set  |  Transamérica Expo Center  |  Meta: 130 leads · 28 reuniões · R$ 3,2M pipeline</a:t>
            </a:r>
          </a:p>
        </p:txBody>
      </p:sp>
      <p:pic>
        <p:nvPicPr>
          <p:cNvPr id="37" name="Picture 36" descr="logo-claro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382512"/>
            <a:ext cx="777240" cy="347472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1234440" y="6537960"/>
            <a:ext cx="10607040" cy="20116"/>
          </a:xfrm>
          <a:prstGeom prst="rect">
            <a:avLst/>
          </a:prstGeom>
          <a:solidFill>
            <a:srgbClr val="006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6AFF"/>
                </a:solidFill>
                <a:latin typeface="Calibri"/>
              </a:rPr>
              <a:t>Planejamento SAP NOW AI Tour 2026 — Solveplan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656539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006AFF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