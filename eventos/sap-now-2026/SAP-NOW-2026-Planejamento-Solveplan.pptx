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6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006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>
                <a:solidFill>
                  <a:srgbClr val="FFFFFF"/>
                </a:solidFill>
                <a:latin typeface="Montserrat"/>
              </a:rPr>
              <a:t>SAP NOW AI Tour Brazil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945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006AFF"/>
                </a:solidFill>
                <a:latin typeface="Montserrat"/>
              </a:rPr>
              <a:t>Planejamento Solveplan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926080"/>
            <a:ext cx="5486400" cy="18288"/>
          </a:xfrm>
          <a:prstGeom prst="rect">
            <a:avLst/>
          </a:prstGeom>
          <a:solidFill>
            <a:srgbClr val="006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1089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CCCCCC"/>
                </a:solidFill>
                <a:latin typeface="Montserrat"/>
              </a:rPr>
              <a:t>9 e 10 de setembro de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661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CCCCCC"/>
                </a:solidFill>
                <a:latin typeface="Montserrat"/>
              </a:rPr>
              <a:t>Transamérica Expo Center — São Paulo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0233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CCCCCC"/>
                </a:solidFill>
                <a:latin typeface="Montserrat"/>
              </a:rPr>
              <a:t>Das 8h às 19h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937760"/>
            <a:ext cx="5029200" cy="640080"/>
          </a:xfrm>
          <a:prstGeom prst="rect">
            <a:avLst/>
          </a:prstGeom>
          <a:solidFill>
            <a:srgbClr val="006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4983480"/>
            <a:ext cx="4846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ontserrat"/>
              </a:rPr>
              <a:t>"Seus dados existem — mas você ainda demora dias para fechar o mês."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63093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Montserrat"/>
              </a:rPr>
              <a:t>CONFIDENCIAL — USO INTERNO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11274552" cy="640080"/>
          </a:xfrm>
          <a:prstGeom prst="rect">
            <a:avLst/>
          </a:prstGeom>
          <a:solidFill>
            <a:srgbClr val="006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ontserrat"/>
              </a:rPr>
              <a:t>Objetivos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Montserrat"/>
              </a:rPr>
              <a:t>▸  Geração de leads qualificados — meta: 130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Montserrat"/>
              </a:rPr>
              <a:t>▸  Geração de reuniões agendadas — meta: 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56816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Montserrat"/>
              </a:rPr>
              <a:t>▸  Posicionar Solveplan como referência em SAP Business Data Cloud (BDC)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40864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Montserrat"/>
              </a:rPr>
              <a:t>▸  Fomentar relacionamento com clientes e expandir networking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24912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Montserrat"/>
              </a:rPr>
              <a:t>▸  Gerar pipeline de novos negócios — meta: R$ 3.200.000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754880"/>
            <a:ext cx="10515600" cy="18288"/>
          </a:xfrm>
          <a:prstGeom prst="rect">
            <a:avLst/>
          </a:prstGeom>
          <a:solidFill>
            <a:srgbClr val="94F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48920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94FF96"/>
                </a:solidFill>
                <a:latin typeface="Montserrat"/>
              </a:rPr>
              <a:t>💡 Mensagem-chave: "Seus dados existem — mas você ainda demora dias para fechar o mês. Em 2026, isso é risco. A Solveplan resolve."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11274552" cy="640080"/>
          </a:xfrm>
          <a:prstGeom prst="rect">
            <a:avLst/>
          </a:prstGeom>
          <a:solidFill>
            <a:srgbClr val="006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ontserrat"/>
              </a:rPr>
              <a:t>Overview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10515600" cy="438912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33856"/>
            <a:ext cx="3200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6AFF"/>
                </a:solidFill>
                <a:latin typeface="Montserrat"/>
              </a:rPr>
              <a:t>Solução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31920" y="1133856"/>
            <a:ext cx="7315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Montserrat"/>
              </a:rPr>
              <a:t>SAP Business Data Cloud (BDC) — foco principal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572768"/>
            <a:ext cx="10515600" cy="438912"/>
          </a:xfrm>
          <a:prstGeom prst="rect">
            <a:avLst/>
          </a:prstGeom>
          <a:solidFill>
            <a:srgbClr val="10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09344"/>
            <a:ext cx="3200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6AFF"/>
                </a:solidFill>
                <a:latin typeface="Montserrat"/>
              </a:rPr>
              <a:t>Objetivo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1609344"/>
            <a:ext cx="7315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Montserrat"/>
              </a:rPr>
              <a:t>Geração de demanda + conversão de leads (deals no pipe)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048256"/>
            <a:ext cx="10515600" cy="438912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084832"/>
            <a:ext cx="3200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6AFF"/>
                </a:solidFill>
                <a:latin typeface="Montserrat"/>
              </a:rPr>
              <a:t>Etapa do funil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0" y="2084832"/>
            <a:ext cx="7315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Montserrat"/>
              </a:rPr>
              <a:t>Meio e fundo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523744"/>
            <a:ext cx="10515600" cy="438912"/>
          </a:xfrm>
          <a:prstGeom prst="rect">
            <a:avLst/>
          </a:prstGeom>
          <a:solidFill>
            <a:srgbClr val="10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560320"/>
            <a:ext cx="3200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6AFF"/>
                </a:solidFill>
                <a:latin typeface="Montserrat"/>
              </a:rPr>
              <a:t>Período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2560320"/>
            <a:ext cx="7315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Montserrat"/>
              </a:rPr>
              <a:t>Jun, Jul, Ago, Set 2026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2999232"/>
            <a:ext cx="10515600" cy="438912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035808"/>
            <a:ext cx="3200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6AFF"/>
                </a:solidFill>
                <a:latin typeface="Montserrat"/>
              </a:rPr>
              <a:t>Target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31920" y="3035808"/>
            <a:ext cx="7315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Montserrat"/>
              </a:rPr>
              <a:t>+R$500M faturamento / cross industry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474720"/>
            <a:ext cx="10515600" cy="438912"/>
          </a:xfrm>
          <a:prstGeom prst="rect">
            <a:avLst/>
          </a:prstGeom>
          <a:solidFill>
            <a:srgbClr val="10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3511296"/>
            <a:ext cx="3200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6AFF"/>
                </a:solidFill>
                <a:latin typeface="Montserrat"/>
              </a:rPr>
              <a:t>Persona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1920" y="3511296"/>
            <a:ext cx="7315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Montserrat"/>
              </a:rPr>
              <a:t>CIO, CFO, Controller, Head de Dados/BI, COO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3950208"/>
            <a:ext cx="10515600" cy="438912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3986784"/>
            <a:ext cx="3200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6AFF"/>
                </a:solidFill>
                <a:latin typeface="Montserrat"/>
              </a:rPr>
              <a:t>Conversão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31920" y="3986784"/>
            <a:ext cx="7315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Montserrat"/>
              </a:rPr>
              <a:t>Evento SAP NOW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11274552" cy="640080"/>
          </a:xfrm>
          <a:prstGeom prst="rect">
            <a:avLst/>
          </a:prstGeom>
          <a:solidFill>
            <a:srgbClr val="006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ontserrat"/>
              </a:rPr>
              <a:t>Detalhes do Evento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10789920" cy="438912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33856"/>
            <a:ext cx="2743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6AFF"/>
                </a:solidFill>
                <a:latin typeface="Montserrat"/>
              </a:rPr>
              <a:t>Datas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1133856"/>
            <a:ext cx="8046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Montserrat"/>
              </a:rPr>
              <a:t>9 e 10 de setembro de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572768"/>
            <a:ext cx="10789920" cy="438912"/>
          </a:xfrm>
          <a:prstGeom prst="rect">
            <a:avLst/>
          </a:prstGeom>
          <a:solidFill>
            <a:srgbClr val="10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09344"/>
            <a:ext cx="2743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6AFF"/>
                </a:solidFill>
                <a:latin typeface="Montserrat"/>
              </a:rPr>
              <a:t>Horário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1609344"/>
            <a:ext cx="8046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Montserrat"/>
              </a:rPr>
              <a:t>Das 8h às 19h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048256"/>
            <a:ext cx="10789920" cy="438912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084832"/>
            <a:ext cx="2743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6AFF"/>
                </a:solidFill>
                <a:latin typeface="Montserrat"/>
              </a:rPr>
              <a:t>Local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2084832"/>
            <a:ext cx="8046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Montserrat"/>
              </a:rPr>
              <a:t>Transamérica Expo Center — São Paulo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523744"/>
            <a:ext cx="10789920" cy="438912"/>
          </a:xfrm>
          <a:prstGeom prst="rect">
            <a:avLst/>
          </a:prstGeom>
          <a:solidFill>
            <a:srgbClr val="10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560320"/>
            <a:ext cx="2743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6AFF"/>
                </a:solidFill>
                <a:latin typeface="Montserrat"/>
              </a:rPr>
              <a:t>Audiência total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2560320"/>
            <a:ext cx="8046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Montserrat"/>
              </a:rPr>
              <a:t>3.900 pessoas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2999232"/>
            <a:ext cx="10789920" cy="438912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035808"/>
            <a:ext cx="2743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6AFF"/>
                </a:solidFill>
                <a:latin typeface="Montserrat"/>
              </a:rPr>
              <a:t>Clientes/Prospects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0" y="3035808"/>
            <a:ext cx="8046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Montserrat"/>
              </a:rPr>
              <a:t>2.700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474720"/>
            <a:ext cx="10789920" cy="438912"/>
          </a:xfrm>
          <a:prstGeom prst="rect">
            <a:avLst/>
          </a:prstGeom>
          <a:solidFill>
            <a:srgbClr val="10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3511296"/>
            <a:ext cx="2743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6AFF"/>
                </a:solidFill>
                <a:latin typeface="Montserrat"/>
              </a:rPr>
              <a:t>Decision Makers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0" y="3511296"/>
            <a:ext cx="8046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Montserrat"/>
              </a:rPr>
              <a:t>73%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3950208"/>
            <a:ext cx="10789920" cy="438912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3986784"/>
            <a:ext cx="2743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6AFF"/>
                </a:solidFill>
                <a:latin typeface="Montserrat"/>
              </a:rPr>
              <a:t>Patrocinadores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74720" y="3986784"/>
            <a:ext cx="8046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Montserrat"/>
              </a:rPr>
              <a:t>70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425696"/>
            <a:ext cx="10789920" cy="438912"/>
          </a:xfrm>
          <a:prstGeom prst="rect">
            <a:avLst/>
          </a:prstGeom>
          <a:solidFill>
            <a:srgbClr val="10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4462272"/>
            <a:ext cx="2743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6AFF"/>
                </a:solidFill>
                <a:latin typeface="Montserrat"/>
              </a:rPr>
              <a:t>Cota Solveplan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74720" y="4462272"/>
            <a:ext cx="8046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Montserrat"/>
              </a:rPr>
              <a:t>Gold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4901184"/>
            <a:ext cx="10789920" cy="438912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4937760"/>
            <a:ext cx="2743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6AFF"/>
                </a:solidFill>
                <a:latin typeface="Montserrat"/>
              </a:rPr>
              <a:t>Tema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74720" y="4937760"/>
            <a:ext cx="8046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Montserrat"/>
              </a:rPr>
              <a:t>Bring it at SAP NOW AI Tour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11274552" cy="640080"/>
          </a:xfrm>
          <a:prstGeom prst="rect">
            <a:avLst/>
          </a:prstGeom>
          <a:solidFill>
            <a:srgbClr val="006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ontserrat"/>
              </a:rPr>
              <a:t>Metas e Critério de Sucesso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188720"/>
            <a:ext cx="5029200" cy="438912"/>
          </a:xfrm>
          <a:prstGeom prst="rect">
            <a:avLst/>
          </a:prstGeom>
          <a:solidFill>
            <a:srgbClr val="006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225296"/>
            <a:ext cx="5029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Métrica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5852160" y="1188720"/>
            <a:ext cx="2743200" cy="438912"/>
          </a:xfrm>
          <a:prstGeom prst="rect">
            <a:avLst/>
          </a:prstGeom>
          <a:solidFill>
            <a:srgbClr val="006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97880" y="1225296"/>
            <a:ext cx="2743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Meta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8595360" y="1188720"/>
            <a:ext cx="2743200" cy="438912"/>
          </a:xfrm>
          <a:prstGeom prst="rect">
            <a:avLst/>
          </a:prstGeom>
          <a:solidFill>
            <a:srgbClr val="006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41080" y="1225296"/>
            <a:ext cx="2743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Ref.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627632"/>
            <a:ext cx="5029200" cy="411480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664208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Leads totais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0" y="1627632"/>
            <a:ext cx="2743200" cy="411480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97880" y="1664208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130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595360" y="1627632"/>
            <a:ext cx="2743200" cy="411480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41080" y="1664208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186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2039112"/>
            <a:ext cx="5029200" cy="411480"/>
          </a:xfrm>
          <a:prstGeom prst="rect">
            <a:avLst/>
          </a:prstGeom>
          <a:solidFill>
            <a:srgbClr val="10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2075688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Leads qualificados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160" y="2039112"/>
            <a:ext cx="2743200" cy="411480"/>
          </a:xfrm>
          <a:prstGeom prst="rect">
            <a:avLst/>
          </a:prstGeom>
          <a:solidFill>
            <a:srgbClr val="10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97880" y="2075688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44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595360" y="2039112"/>
            <a:ext cx="2743200" cy="411480"/>
          </a:xfrm>
          <a:prstGeom prst="rect">
            <a:avLst/>
          </a:prstGeom>
          <a:solidFill>
            <a:srgbClr val="10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41080" y="2075688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—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2450592"/>
            <a:ext cx="5029200" cy="411480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2487168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Reuniões agendadas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852160" y="2450592"/>
            <a:ext cx="2743200" cy="411480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897880" y="2487168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28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595360" y="2450592"/>
            <a:ext cx="2743200" cy="411480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41080" y="2487168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26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" y="2862072"/>
            <a:ext cx="5029200" cy="411480"/>
          </a:xfrm>
          <a:prstGeom prst="rect">
            <a:avLst/>
          </a:prstGeom>
          <a:solidFill>
            <a:srgbClr val="10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2898648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Oportunidades abertas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852160" y="2862072"/>
            <a:ext cx="2743200" cy="411480"/>
          </a:xfrm>
          <a:prstGeom prst="rect">
            <a:avLst/>
          </a:prstGeom>
          <a:solidFill>
            <a:srgbClr val="10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897880" y="2898648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8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595360" y="2862072"/>
            <a:ext cx="2743200" cy="411480"/>
          </a:xfrm>
          <a:prstGeom prst="rect">
            <a:avLst/>
          </a:prstGeom>
          <a:solidFill>
            <a:srgbClr val="10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41080" y="2898648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—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" y="3273552"/>
            <a:ext cx="5029200" cy="411480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" y="3310128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Pipeline gerado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852160" y="3273552"/>
            <a:ext cx="2743200" cy="411480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897880" y="3310128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R$ 3.200.000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595360" y="3273552"/>
            <a:ext cx="2743200" cy="411480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41080" y="3310128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22960" y="3685032"/>
            <a:ext cx="5029200" cy="411480"/>
          </a:xfrm>
          <a:prstGeom prst="rect">
            <a:avLst/>
          </a:prstGeom>
          <a:solidFill>
            <a:srgbClr val="10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8680" y="3721608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Empresas abordadas SDR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852160" y="3685032"/>
            <a:ext cx="2743200" cy="411480"/>
          </a:xfrm>
          <a:prstGeom prst="rect">
            <a:avLst/>
          </a:prstGeom>
          <a:solidFill>
            <a:srgbClr val="10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897880" y="3721608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120+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595360" y="3685032"/>
            <a:ext cx="2743200" cy="411480"/>
          </a:xfrm>
          <a:prstGeom prst="rect">
            <a:avLst/>
          </a:prstGeom>
          <a:solidFill>
            <a:srgbClr val="10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641080" y="3721608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72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22960" y="4096512"/>
            <a:ext cx="5029200" cy="411480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68680" y="4133088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Agendas via SDR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852160" y="4096512"/>
            <a:ext cx="2743200" cy="411480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897880" y="4133088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12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595360" y="4096512"/>
            <a:ext cx="2743200" cy="411480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641080" y="4133088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5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22960" y="4507992"/>
            <a:ext cx="5029200" cy="411480"/>
          </a:xfrm>
          <a:prstGeom prst="rect">
            <a:avLst/>
          </a:prstGeom>
          <a:solidFill>
            <a:srgbClr val="10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68680" y="4544568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Custo por lead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852160" y="4507992"/>
            <a:ext cx="2743200" cy="411480"/>
          </a:xfrm>
          <a:prstGeom prst="rect">
            <a:avLst/>
          </a:prstGeom>
          <a:solidFill>
            <a:srgbClr val="10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897880" y="4544568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R$ 2.127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595360" y="4507992"/>
            <a:ext cx="2743200" cy="411480"/>
          </a:xfrm>
          <a:prstGeom prst="rect">
            <a:avLst/>
          </a:prstGeom>
          <a:solidFill>
            <a:srgbClr val="10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641080" y="4544568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—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22960" y="4919472"/>
            <a:ext cx="5029200" cy="411480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68680" y="4956048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ROI esperado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852160" y="4919472"/>
            <a:ext cx="2743200" cy="411480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897880" y="4956048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11,6x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595360" y="4919472"/>
            <a:ext cx="2743200" cy="411480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641080" y="4956048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—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11274552" cy="640080"/>
          </a:xfrm>
          <a:prstGeom prst="rect">
            <a:avLst/>
          </a:prstGeom>
          <a:solidFill>
            <a:srgbClr val="006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ontserrat"/>
              </a:rPr>
              <a:t>Staff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CCCCC"/>
                </a:solidFill>
                <a:latin typeface="Montserrat"/>
              </a:rPr>
              <a:t>Time confirmado: a definir com sócios  |  Ref. 2025: 9 pessoas (8 credenciais patrocinador + 1 staff)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548640" cy="438912"/>
          </a:xfrm>
          <a:prstGeom prst="rect">
            <a:avLst/>
          </a:prstGeom>
          <a:solidFill>
            <a:srgbClr val="006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91056"/>
            <a:ext cx="548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#</a:t>
            </a:r>
          </a:p>
        </p:txBody>
      </p:sp>
      <p:sp>
        <p:nvSpPr>
          <p:cNvPr id="7" name="Rectangle 6"/>
          <p:cNvSpPr/>
          <p:nvPr/>
        </p:nvSpPr>
        <p:spPr>
          <a:xfrm>
            <a:off x="1188720" y="1554480"/>
            <a:ext cx="3657600" cy="438912"/>
          </a:xfrm>
          <a:prstGeom prst="rect">
            <a:avLst/>
          </a:prstGeom>
          <a:solidFill>
            <a:srgbClr val="006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34440" y="1591056"/>
            <a:ext cx="36576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Nome</a:t>
            </a:r>
          </a:p>
        </p:txBody>
      </p:sp>
      <p:sp>
        <p:nvSpPr>
          <p:cNvPr id="9" name="Rectangle 8"/>
          <p:cNvSpPr/>
          <p:nvPr/>
        </p:nvSpPr>
        <p:spPr>
          <a:xfrm>
            <a:off x="4846320" y="1554480"/>
            <a:ext cx="2743200" cy="438912"/>
          </a:xfrm>
          <a:prstGeom prst="rect">
            <a:avLst/>
          </a:prstGeom>
          <a:solidFill>
            <a:srgbClr val="006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92040" y="1591056"/>
            <a:ext cx="2743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Credencial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589520" y="1554480"/>
            <a:ext cx="4114800" cy="438912"/>
          </a:xfrm>
          <a:prstGeom prst="rect">
            <a:avLst/>
          </a:prstGeom>
          <a:solidFill>
            <a:srgbClr val="006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35240" y="1591056"/>
            <a:ext cx="41148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Obs.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1993392"/>
            <a:ext cx="548640" cy="411480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2029968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1–8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88720" y="1993392"/>
            <a:ext cx="3657600" cy="411480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34440" y="2029968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A definir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46320" y="1993392"/>
            <a:ext cx="2743200" cy="411480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92040" y="2029968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Patrocinador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589520" y="1993392"/>
            <a:ext cx="4114800" cy="411480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35240" y="2029968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2404872"/>
            <a:ext cx="548640" cy="411480"/>
          </a:xfrm>
          <a:prstGeom prst="rect">
            <a:avLst/>
          </a:prstGeom>
          <a:solidFill>
            <a:srgbClr val="10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2441448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9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88720" y="2404872"/>
            <a:ext cx="3657600" cy="411480"/>
          </a:xfrm>
          <a:prstGeom prst="rect">
            <a:avLst/>
          </a:prstGeom>
          <a:solidFill>
            <a:srgbClr val="10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34440" y="2441448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Fran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46320" y="2404872"/>
            <a:ext cx="2743200" cy="411480"/>
          </a:xfrm>
          <a:prstGeom prst="rect">
            <a:avLst/>
          </a:prstGeom>
          <a:solidFill>
            <a:srgbClr val="10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92040" y="2441448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Staff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589520" y="2404872"/>
            <a:ext cx="4114800" cy="411480"/>
          </a:xfrm>
          <a:prstGeom prst="rect">
            <a:avLst/>
          </a:prstGeom>
          <a:solidFill>
            <a:srgbClr val="10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35240" y="2441448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Organização geral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28346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6AFF"/>
                </a:solidFill>
                <a:latin typeface="Montserrat"/>
              </a:rPr>
              <a:t>Regras de credencial: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324612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Montserrat"/>
              </a:rPr>
              <a:t>▸  Até 4 trocas/dia — proibido das 12h às 14h (exige documento)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363016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Montserrat"/>
              </a:rPr>
              <a:t>▸  Retirada dia 08/set no CAEX (8h–18h) ou nos dias 09–10/set no credenciamento (8h–17h)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4014216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Montserrat"/>
              </a:rPr>
              <a:t>▸  Credencial pessoal e intransferível — nenhum profissional entra sem credencial visível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43891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6AFF"/>
                </a:solidFill>
                <a:latin typeface="Montserrat"/>
              </a:rPr>
              <a:t>Escala por turno (preencher com nomes):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" y="4754880"/>
            <a:ext cx="548640" cy="438912"/>
          </a:xfrm>
          <a:prstGeom prst="rect">
            <a:avLst/>
          </a:prstGeom>
          <a:solidFill>
            <a:srgbClr val="006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4791456"/>
            <a:ext cx="548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#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188720" y="4754880"/>
            <a:ext cx="2011680" cy="438912"/>
          </a:xfrm>
          <a:prstGeom prst="rect">
            <a:avLst/>
          </a:prstGeom>
          <a:solidFill>
            <a:srgbClr val="006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34440" y="4791456"/>
            <a:ext cx="20116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Montagem 08/set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00400" y="4754880"/>
            <a:ext cx="1920240" cy="438912"/>
          </a:xfrm>
          <a:prstGeom prst="rect">
            <a:avLst/>
          </a:prstGeom>
          <a:solidFill>
            <a:srgbClr val="006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246120" y="4791456"/>
            <a:ext cx="19202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Dia 1 — Manhã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120640" y="4754880"/>
            <a:ext cx="1920240" cy="438912"/>
          </a:xfrm>
          <a:prstGeom prst="rect">
            <a:avLst/>
          </a:prstGeom>
          <a:solidFill>
            <a:srgbClr val="006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166360" y="4791456"/>
            <a:ext cx="19202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Dia 1 — Tarde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040880" y="4754880"/>
            <a:ext cx="1920240" cy="438912"/>
          </a:xfrm>
          <a:prstGeom prst="rect">
            <a:avLst/>
          </a:prstGeom>
          <a:solidFill>
            <a:srgbClr val="006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086600" y="4791456"/>
            <a:ext cx="19202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Dia 2 — Manhã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961120" y="4754880"/>
            <a:ext cx="1920240" cy="438912"/>
          </a:xfrm>
          <a:prstGeom prst="rect">
            <a:avLst/>
          </a:prstGeom>
          <a:solidFill>
            <a:srgbClr val="006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006840" y="4791456"/>
            <a:ext cx="19202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Dia 2 — Tarde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40080" y="5193792"/>
            <a:ext cx="548640" cy="365760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85800" y="5230368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1–8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188720" y="5193792"/>
            <a:ext cx="2011680" cy="365760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34440" y="5230368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A definir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200400" y="5193792"/>
            <a:ext cx="1920240" cy="365760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246120" y="5230368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A definir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120640" y="5193792"/>
            <a:ext cx="1920240" cy="365760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166360" y="5230368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A definir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040880" y="5193792"/>
            <a:ext cx="1920240" cy="365760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086600" y="5230368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A definir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961120" y="5193792"/>
            <a:ext cx="1920240" cy="365760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006840" y="5230368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A definir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40080" y="5559552"/>
            <a:ext cx="548640" cy="365760"/>
          </a:xfrm>
          <a:prstGeom prst="rect">
            <a:avLst/>
          </a:prstGeom>
          <a:solidFill>
            <a:srgbClr val="10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85800" y="5596128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9 (Fran)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188720" y="5559552"/>
            <a:ext cx="2011680" cy="365760"/>
          </a:xfrm>
          <a:prstGeom prst="rect">
            <a:avLst/>
          </a:prstGeom>
          <a:solidFill>
            <a:srgbClr val="10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234440" y="5596128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—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200400" y="5559552"/>
            <a:ext cx="1920240" cy="365760"/>
          </a:xfrm>
          <a:prstGeom prst="rect">
            <a:avLst/>
          </a:prstGeom>
          <a:solidFill>
            <a:srgbClr val="10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246120" y="5596128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Fran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120640" y="5559552"/>
            <a:ext cx="1920240" cy="365760"/>
          </a:xfrm>
          <a:prstGeom prst="rect">
            <a:avLst/>
          </a:prstGeom>
          <a:solidFill>
            <a:srgbClr val="10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166360" y="5596128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—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040880" y="5559552"/>
            <a:ext cx="1920240" cy="365760"/>
          </a:xfrm>
          <a:prstGeom prst="rect">
            <a:avLst/>
          </a:prstGeom>
          <a:solidFill>
            <a:srgbClr val="10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086600" y="5596128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Fran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961120" y="5559552"/>
            <a:ext cx="1920240" cy="365760"/>
          </a:xfrm>
          <a:prstGeom prst="rect">
            <a:avLst/>
          </a:prstGeom>
          <a:solidFill>
            <a:srgbClr val="10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006840" y="5596128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11274552" cy="640080"/>
          </a:xfrm>
          <a:prstGeom prst="rect">
            <a:avLst/>
          </a:prstGeom>
          <a:solidFill>
            <a:srgbClr val="006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ontserrat"/>
              </a:rPr>
              <a:t>Ativação do Estande — Quiz BDC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5303520" cy="914400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4300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6AFF"/>
                </a:solidFill>
                <a:latin typeface="Montserrat"/>
              </a:rPr>
              <a:t>Totem interativo touchscreen 43"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Montserrat"/>
              </a:rPr>
              <a:t>Visitante descobre qual solução SAP resolve sua dor em ~3 min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097280"/>
            <a:ext cx="5303520" cy="914400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14300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94FF96"/>
                </a:solidFill>
                <a:latin typeface="Montserrat"/>
              </a:rPr>
              <a:t>Fornecedor: Entretec  |  Ref. 2025 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5087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Montserrat"/>
              </a:rPr>
              <a:t>Investimento ref.: R$ 9.800 + frete R$ 500 + promotor R$ 450/dia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2402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6AFF"/>
                </a:solidFill>
                <a:latin typeface="Montserrat"/>
              </a:rPr>
              <a:t>Dor × Solução (6 pares BDC 2026):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606040"/>
            <a:ext cx="5486400" cy="438912"/>
          </a:xfrm>
          <a:prstGeom prst="rect">
            <a:avLst/>
          </a:prstGeom>
          <a:solidFill>
            <a:srgbClr val="006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642616"/>
            <a:ext cx="5486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Dor (vermelho)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2606040"/>
            <a:ext cx="5669280" cy="438912"/>
          </a:xfrm>
          <a:prstGeom prst="rect">
            <a:avLst/>
          </a:prstGeom>
          <a:solidFill>
            <a:srgbClr val="006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72200" y="2642616"/>
            <a:ext cx="56692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Solução (verde)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044952"/>
            <a:ext cx="5486400" cy="384048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081528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Fechamento manual demorado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3044952"/>
            <a:ext cx="5669280" cy="384048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72200" y="3081528"/>
            <a:ext cx="5669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SAP BDC + Group Reporting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428999"/>
            <a:ext cx="5486400" cy="384048"/>
          </a:xfrm>
          <a:prstGeom prst="rect">
            <a:avLst/>
          </a:prstGeom>
          <a:solidFill>
            <a:srgbClr val="10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465575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Dados desconectados entre sistemas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80" y="3428999"/>
            <a:ext cx="5669280" cy="384048"/>
          </a:xfrm>
          <a:prstGeom prst="rect">
            <a:avLst/>
          </a:prstGeom>
          <a:solidFill>
            <a:srgbClr val="10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72200" y="3465575"/>
            <a:ext cx="5669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SAP Datasphere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3813047"/>
            <a:ext cx="5486400" cy="384048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3849623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Falta de visibilidade em tempo real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26480" y="3813047"/>
            <a:ext cx="5669280" cy="384048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72200" y="3849623"/>
            <a:ext cx="5669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SAP Analytics Cloud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4197096"/>
            <a:ext cx="5486400" cy="384048"/>
          </a:xfrm>
          <a:prstGeom prst="rect">
            <a:avLst/>
          </a:prstGeom>
          <a:solidFill>
            <a:srgbClr val="10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4233672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Planejamento orçamentário no Excel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26480" y="4197096"/>
            <a:ext cx="5669280" cy="384048"/>
          </a:xfrm>
          <a:prstGeom prst="rect">
            <a:avLst/>
          </a:prstGeom>
          <a:solidFill>
            <a:srgbClr val="10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72200" y="4233672"/>
            <a:ext cx="5669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SAP SAC Planning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4581144"/>
            <a:ext cx="5486400" cy="384048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4617720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Integrações travando processos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26480" y="4581144"/>
            <a:ext cx="5669280" cy="384048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72200" y="4617720"/>
            <a:ext cx="5669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SAP BTP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4965192"/>
            <a:ext cx="5486400" cy="384048"/>
          </a:xfrm>
          <a:prstGeom prst="rect">
            <a:avLst/>
          </a:prstGeom>
          <a:solidFill>
            <a:srgbClr val="10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800" y="5001768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Gestão fiscal engessada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26480" y="4965192"/>
            <a:ext cx="5669280" cy="384048"/>
          </a:xfrm>
          <a:prstGeom prst="rect">
            <a:avLst/>
          </a:prstGeom>
          <a:solidFill>
            <a:srgbClr val="10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172200" y="5001768"/>
            <a:ext cx="5669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SAP PaPM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11274552" cy="640080"/>
          </a:xfrm>
          <a:prstGeom prst="rect">
            <a:avLst/>
          </a:prstGeom>
          <a:solidFill>
            <a:srgbClr val="006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ontserrat"/>
              </a:rPr>
              <a:t>Jornada do Visitante — Ativação Quiz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3749039" cy="2194560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3749039" cy="411480"/>
          </a:xfrm>
          <a:prstGeom prst="rect">
            <a:avLst/>
          </a:prstGeom>
          <a:solidFill>
            <a:srgbClr val="006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Montserrat"/>
              </a:rPr>
              <a:t>1. Atração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54480"/>
            <a:ext cx="356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  <a:latin typeface="Montserrat"/>
              </a:rPr>
              <a:t>Totem com animações. Equipe aborda: 'Faz um quiz e descobre qual SAP resolve sua dor. Leva brinde!'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097280"/>
            <a:ext cx="3749039" cy="2194560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097280"/>
            <a:ext cx="3749039" cy="411480"/>
          </a:xfrm>
          <a:prstGeom prst="rect">
            <a:avLst/>
          </a:prstGeom>
          <a:solidFill>
            <a:srgbClr val="006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0" y="114300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Montserrat"/>
              </a:rPr>
              <a:t>2. Engajamento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1554480"/>
            <a:ext cx="356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  <a:latin typeface="Montserrat"/>
              </a:rPr>
              <a:t>Visitante participa em menos de 3 min. Preenche: Nome, Cargo, Empresa, E-mail, WhatsApp.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0" y="1097280"/>
            <a:ext cx="3749039" cy="2194560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29600" y="1097280"/>
            <a:ext cx="3749039" cy="411480"/>
          </a:xfrm>
          <a:prstGeom prst="rect">
            <a:avLst/>
          </a:prstGeom>
          <a:solidFill>
            <a:srgbClr val="006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114300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Montserrat"/>
              </a:rPr>
              <a:t>3. Qualificação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1554480"/>
            <a:ext cx="356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  <a:latin typeface="Montserrat"/>
              </a:rPr>
              <a:t>Quiz revela dor principal + solução SAP. Lead categorizado: Quente / Morno / Frio.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474720"/>
            <a:ext cx="3749039" cy="2194560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5760" y="3474720"/>
            <a:ext cx="3749039" cy="411480"/>
          </a:xfrm>
          <a:prstGeom prst="rect">
            <a:avLst/>
          </a:prstGeom>
          <a:solidFill>
            <a:srgbClr val="006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352044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Montserrat"/>
              </a:rPr>
              <a:t>4. Brinde + Conversa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3931920"/>
            <a:ext cx="356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  <a:latin typeface="Montserrat"/>
              </a:rPr>
              <a:t>Equipe entrega brinde e inicia conversa: 'Vi que você marcou [dor X]… posso mostrar como a Klabin resolveu isso?'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97680" y="3474720"/>
            <a:ext cx="3749039" cy="2194560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97680" y="3474720"/>
            <a:ext cx="3749039" cy="411480"/>
          </a:xfrm>
          <a:prstGeom prst="rect">
            <a:avLst/>
          </a:prstGeom>
          <a:solidFill>
            <a:srgbClr val="006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89120" y="352044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Montserrat"/>
              </a:rPr>
              <a:t>5. Lead no CRM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120" y="3931920"/>
            <a:ext cx="356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  <a:latin typeface="Montserrat"/>
              </a:rPr>
              <a:t>Dados capturados vão para HubSpot com tag SAP-NOW-2026 e classificação automática.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0" y="3474720"/>
            <a:ext cx="3749039" cy="2194560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229600" y="3474720"/>
            <a:ext cx="3749039" cy="411480"/>
          </a:xfrm>
          <a:prstGeom prst="rect">
            <a:avLst/>
          </a:prstGeom>
          <a:solidFill>
            <a:srgbClr val="006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21040" y="352044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Montserrat"/>
              </a:rPr>
              <a:t>6. Follow-up Pós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3931920"/>
            <a:ext cx="356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  <a:latin typeface="Montserrat"/>
              </a:rPr>
              <a:t>SDR contata em até 3 dias: 'Conforme seu quiz, acredito que podemos ajudar com [dor]. Agendamos?'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11274552" cy="640080"/>
          </a:xfrm>
          <a:prstGeom prst="rect">
            <a:avLst/>
          </a:prstGeom>
          <a:solidFill>
            <a:srgbClr val="006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ontserrat"/>
              </a:rPr>
              <a:t>Brindes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CCCCC"/>
                </a:solidFill>
                <a:latin typeface="Montserrat"/>
              </a:rPr>
              <a:t>Fornecedor referência: Unity Brindes (usado em 2025)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5943600" cy="438912"/>
          </a:xfrm>
          <a:prstGeom prst="rect">
            <a:avLst/>
          </a:prstGeom>
          <a:solidFill>
            <a:srgbClr val="006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91056"/>
            <a:ext cx="59436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Item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0" y="1554480"/>
            <a:ext cx="1371600" cy="438912"/>
          </a:xfrm>
          <a:prstGeom prst="rect">
            <a:avLst/>
          </a:prstGeom>
          <a:solidFill>
            <a:srgbClr val="006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29400" y="1591056"/>
            <a:ext cx="13716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Qtd</a:t>
            </a:r>
          </a:p>
        </p:txBody>
      </p:sp>
      <p:sp>
        <p:nvSpPr>
          <p:cNvPr id="9" name="Rectangle 8"/>
          <p:cNvSpPr/>
          <p:nvPr/>
        </p:nvSpPr>
        <p:spPr>
          <a:xfrm>
            <a:off x="7955280" y="1554480"/>
            <a:ext cx="1828800" cy="438912"/>
          </a:xfrm>
          <a:prstGeom prst="rect">
            <a:avLst/>
          </a:prstGeom>
          <a:solidFill>
            <a:srgbClr val="006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1000" y="1591056"/>
            <a:ext cx="18288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Valor unit.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784080" y="1554480"/>
            <a:ext cx="1828800" cy="438912"/>
          </a:xfrm>
          <a:prstGeom prst="rect">
            <a:avLst/>
          </a:prstGeom>
          <a:solidFill>
            <a:srgbClr val="006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29800" y="1591056"/>
            <a:ext cx="18288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Total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1993392"/>
            <a:ext cx="5943600" cy="411480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2029968"/>
            <a:ext cx="5943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Bloco A5 capa dura (silk screen 1 cor)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0" y="1993392"/>
            <a:ext cx="1371600" cy="411480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2029968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500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55280" y="1993392"/>
            <a:ext cx="1828800" cy="411480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1000" y="2029968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~R$ 15,59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784080" y="1993392"/>
            <a:ext cx="1828800" cy="411480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9800" y="2029968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~R$ 7.795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2404872"/>
            <a:ext cx="5943600" cy="411480"/>
          </a:xfrm>
          <a:prstGeom prst="rect">
            <a:avLst/>
          </a:prstGeom>
          <a:solidFill>
            <a:srgbClr val="10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2441448"/>
            <a:ext cx="5943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Caneta esferográfica alumínio (laser)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0" y="2404872"/>
            <a:ext cx="1371600" cy="411480"/>
          </a:xfrm>
          <a:prstGeom prst="rect">
            <a:avLst/>
          </a:prstGeom>
          <a:solidFill>
            <a:srgbClr val="10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29400" y="2441448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500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55280" y="2404872"/>
            <a:ext cx="1828800" cy="411480"/>
          </a:xfrm>
          <a:prstGeom prst="rect">
            <a:avLst/>
          </a:prstGeom>
          <a:solidFill>
            <a:srgbClr val="10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01000" y="2441448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~R$ 5,37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784080" y="2404872"/>
            <a:ext cx="1828800" cy="411480"/>
          </a:xfrm>
          <a:prstGeom prst="rect">
            <a:avLst/>
          </a:prstGeom>
          <a:solidFill>
            <a:srgbClr val="10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29800" y="2441448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~R$ 2.685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2816352"/>
            <a:ext cx="5943600" cy="411480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2852928"/>
            <a:ext cx="5943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TOTAL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83680" y="2816352"/>
            <a:ext cx="1371600" cy="411480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29400" y="2852928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/>
            </a:r>
          </a:p>
        </p:txBody>
      </p:sp>
      <p:sp>
        <p:nvSpPr>
          <p:cNvPr id="33" name="Rectangle 32"/>
          <p:cNvSpPr/>
          <p:nvPr/>
        </p:nvSpPr>
        <p:spPr>
          <a:xfrm>
            <a:off x="7955280" y="2816352"/>
            <a:ext cx="1828800" cy="411480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01000" y="2852928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/>
            </a:r>
          </a:p>
        </p:txBody>
      </p:sp>
      <p:sp>
        <p:nvSpPr>
          <p:cNvPr id="35" name="Rectangle 34"/>
          <p:cNvSpPr/>
          <p:nvPr/>
        </p:nvSpPr>
        <p:spPr>
          <a:xfrm>
            <a:off x="9784080" y="2816352"/>
            <a:ext cx="1828800" cy="411480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29800" y="2852928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~R$ 10.480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3200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6AFF"/>
                </a:solidFill>
                <a:latin typeface="Montserrat"/>
              </a:rPr>
              <a:t>Regras SAP para brindes: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" y="36118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Montserrat"/>
              </a:rPr>
              <a:t>▸  Devem ser sustentáveis — caneta + moleskine = aprovado pela SAP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" y="399592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Montserrat"/>
              </a:rPr>
              <a:t>▸  Aprovação SAP: enviar junto com ativações até 31/07/2026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" y="4379976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Montserrat"/>
              </a:rPr>
              <a:t>▸  Entrega prevista: até 14/agosto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11274552" cy="640080"/>
          </a:xfrm>
          <a:prstGeom prst="rect">
            <a:avLst/>
          </a:prstGeom>
          <a:solidFill>
            <a:srgbClr val="006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ontserrat"/>
              </a:rPr>
              <a:t>Estande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D700"/>
                </a:solidFill>
                <a:latin typeface="Montserrat"/>
              </a:rPr>
              <a:t>ATENÇÃO: Posição não-privilegiada — estratégia deve ser 100% de atração ativa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6AFF"/>
                </a:solidFill>
                <a:latin typeface="Montserrat"/>
              </a:rPr>
              <a:t>Layout: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65960"/>
            <a:ext cx="5669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Montserrat"/>
              </a:rPr>
              <a:t>▸  Trainel (T1) — ~3,85m x 2,50m + TV 1,45x0,83m + balcão 0,50x1,00m + Selo SAP Gold Partner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50008"/>
            <a:ext cx="5669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Montserrat"/>
              </a:rPr>
              <a:t>▸  Painel (P1) — Logo Solveplan vertical + BDC em destaque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34056"/>
            <a:ext cx="5669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Montserrat"/>
              </a:rPr>
              <a:t>▸  Balcão (B1) — Identidade visual + logo da marca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5544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6AFF"/>
                </a:solidFill>
                <a:latin typeface="Montserrat"/>
              </a:rPr>
              <a:t>Conceito visual 2026: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96596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Montserrat"/>
              </a:rPr>
              <a:t>▸  Foco em SAP Business Data Cloud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50008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Montserrat"/>
              </a:rPr>
              <a:t>▸  Identidade Solveplan atualizada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734056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Montserrat"/>
              </a:rPr>
              <a:t>▸  TV para vídeo looping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118104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Montserrat"/>
              </a:rPr>
              <a:t>▸  Destaque: BDC | Datasphere | SAC | Group Reporting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657600"/>
            <a:ext cx="10515600" cy="18288"/>
          </a:xfrm>
          <a:prstGeom prst="rect">
            <a:avLst/>
          </a:prstGeom>
          <a:solidFill>
            <a:srgbClr val="006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84048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6AFF"/>
                </a:solidFill>
                <a:latin typeface="Montserrat"/>
              </a:rPr>
              <a:t>Cronograma de produção: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251960"/>
            <a:ext cx="5943600" cy="438912"/>
          </a:xfrm>
          <a:prstGeom prst="rect">
            <a:avLst/>
          </a:prstGeom>
          <a:solidFill>
            <a:srgbClr val="006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4288536"/>
            <a:ext cx="59436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Etapa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0" y="4251960"/>
            <a:ext cx="4114800" cy="438912"/>
          </a:xfrm>
          <a:prstGeom prst="rect">
            <a:avLst/>
          </a:prstGeom>
          <a:solidFill>
            <a:srgbClr val="006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9400" y="4288536"/>
            <a:ext cx="41148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Prazo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4690872"/>
            <a:ext cx="5943600" cy="365760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4727448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Orçamento com agência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0" y="4690872"/>
            <a:ext cx="4114800" cy="365760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4727448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Até 23/jun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5056632"/>
            <a:ext cx="5943600" cy="365760"/>
          </a:xfrm>
          <a:prstGeom prst="rect">
            <a:avLst/>
          </a:prstGeom>
          <a:solidFill>
            <a:srgbClr val="10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5093208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Arte final aprovada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0" y="5056632"/>
            <a:ext cx="4114800" cy="365760"/>
          </a:xfrm>
          <a:prstGeom prst="rect">
            <a:avLst/>
          </a:prstGeom>
          <a:solidFill>
            <a:srgbClr val="10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29400" y="5093208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Até 11/jul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5422392"/>
            <a:ext cx="5943600" cy="365760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5458968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Pagamento 1ª parcela (50%)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0" y="5422392"/>
            <a:ext cx="4114800" cy="365760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29400" y="5458968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10/jul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5788152"/>
            <a:ext cx="5943600" cy="365760"/>
          </a:xfrm>
          <a:prstGeom prst="rect">
            <a:avLst/>
          </a:prstGeom>
          <a:solidFill>
            <a:srgbClr val="10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5824728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Envio das artes exclusivas SAP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83680" y="5788152"/>
            <a:ext cx="4114800" cy="365760"/>
          </a:xfrm>
          <a:prstGeom prst="rect">
            <a:avLst/>
          </a:prstGeom>
          <a:solidFill>
            <a:srgbClr val="10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29400" y="5824728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11/jul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" y="6153912"/>
            <a:ext cx="5943600" cy="365760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5800" y="6190488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Pagamento 2ª parcela (50%)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0" y="6153912"/>
            <a:ext cx="4114800" cy="365760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29400" y="6190488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Na entrega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11274552" cy="640080"/>
          </a:xfrm>
          <a:prstGeom prst="rect">
            <a:avLst/>
          </a:prstGeom>
          <a:solidFill>
            <a:srgbClr val="006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ontserrat"/>
              </a:rPr>
              <a:t>Vestimenta e Equipamentos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6AFF"/>
                </a:solidFill>
                <a:latin typeface="Montserrat"/>
              </a:rPr>
              <a:t>Vestimenta: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Montserrat"/>
              </a:rPr>
              <a:t>▸  Tech T-Shirt personalizada — 25 un.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92808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Montserrat"/>
              </a:rPr>
              <a:t>▸  Valor unit. ref.: ~R$ 115  |  Total: ~R$ 2.875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76856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Montserrat"/>
              </a:rPr>
              <a:t>▸  Entrega prevista: até 28/jul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6AFF"/>
                </a:solidFill>
                <a:latin typeface="Montserrat"/>
              </a:rPr>
              <a:t>Serviços CAEX: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154680"/>
            <a:ext cx="4114800" cy="438912"/>
          </a:xfrm>
          <a:prstGeom prst="rect">
            <a:avLst/>
          </a:prstGeom>
          <a:solidFill>
            <a:srgbClr val="006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191256"/>
            <a:ext cx="41148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Item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0" y="3154680"/>
            <a:ext cx="1097280" cy="438912"/>
          </a:xfrm>
          <a:prstGeom prst="rect">
            <a:avLst/>
          </a:prstGeom>
          <a:solidFill>
            <a:srgbClr val="006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00600" y="3191256"/>
            <a:ext cx="10972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Qtd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852160" y="3154680"/>
            <a:ext cx="1828800" cy="438912"/>
          </a:xfrm>
          <a:prstGeom prst="rect">
            <a:avLst/>
          </a:prstGeom>
          <a:solidFill>
            <a:srgbClr val="006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97880" y="3191256"/>
            <a:ext cx="18288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Total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593592"/>
            <a:ext cx="4114800" cy="384048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630168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Coletor de dados (por dia)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54880" y="3593592"/>
            <a:ext cx="1097280" cy="384048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00600" y="3630168"/>
            <a:ext cx="1097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52160" y="3593592"/>
            <a:ext cx="1828800" cy="384048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97880" y="3630168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~R$ 1.100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977639"/>
            <a:ext cx="4114800" cy="384048"/>
          </a:xfrm>
          <a:prstGeom prst="rect">
            <a:avLst/>
          </a:prstGeom>
          <a:solidFill>
            <a:srgbClr val="10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014215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KVA energia (totem consume 2–3 KVAs)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54880" y="3977639"/>
            <a:ext cx="1097280" cy="384048"/>
          </a:xfrm>
          <a:prstGeom prst="rect">
            <a:avLst/>
          </a:prstGeom>
          <a:solidFill>
            <a:srgbClr val="10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00600" y="4014215"/>
            <a:ext cx="1097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52160" y="3977639"/>
            <a:ext cx="1828800" cy="384048"/>
          </a:xfrm>
          <a:prstGeom prst="rect">
            <a:avLst/>
          </a:prstGeom>
          <a:solidFill>
            <a:srgbClr val="10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97880" y="4014215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~R$ 780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4361687"/>
            <a:ext cx="4114800" cy="384048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4398263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Internet (pacote)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754880" y="4361687"/>
            <a:ext cx="1097280" cy="384048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00600" y="4398263"/>
            <a:ext cx="1097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—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52160" y="4361687"/>
            <a:ext cx="1828800" cy="384048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97880" y="4398263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A definir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10972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6AFF"/>
                </a:solidFill>
                <a:latin typeface="Montserrat"/>
              </a:rPr>
              <a:t>Equipamentos: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150876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Montserrat"/>
              </a:rPr>
              <a:t>▸  TV + suporte + cabos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1856232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Montserrat"/>
              </a:rPr>
              <a:t>▸  1 Tablet para demos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2203704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Montserrat"/>
              </a:rPr>
              <a:t>▸  2 Pens drive vídeo looping (TV)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2551176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Montserrat"/>
              </a:rPr>
              <a:t>▸  1 Pen drive backup demos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2898648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Montserrat"/>
              </a:rPr>
              <a:t>▸  2 Cabos HDMI + adaptador de rede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324612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Montserrat"/>
              </a:rPr>
              <a:t>▸  Régua de energia / extensão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0" y="3593592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Montserrat"/>
              </a:rPr>
              <a:t>▸  Carregadores de celular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3941064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Montserrat"/>
              </a:rPr>
              <a:t>▸  Agenda das sessões impressa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4288536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Montserrat"/>
              </a:rPr>
              <a:t>▸  2 displays QR Code (~R$ 22 un.) + 1 reserva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11274552" cy="640080"/>
          </a:xfrm>
          <a:prstGeom prst="rect">
            <a:avLst/>
          </a:prstGeom>
          <a:solidFill>
            <a:srgbClr val="006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ontserrat"/>
              </a:rPr>
              <a:t>Conteúdo do Evento — Apresentação Principal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11247120" cy="438912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33856"/>
            <a:ext cx="25603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6AFF"/>
                </a:solidFill>
                <a:latin typeface="Montserrat"/>
              </a:rPr>
              <a:t>Tipo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1133856"/>
            <a:ext cx="86868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Montserrat"/>
              </a:rPr>
              <a:t>Caso de Sucesso — Customer Story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572768"/>
            <a:ext cx="11247120" cy="438912"/>
          </a:xfrm>
          <a:prstGeom prst="rect">
            <a:avLst/>
          </a:prstGeom>
          <a:solidFill>
            <a:srgbClr val="10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09344"/>
            <a:ext cx="25603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6AFF"/>
                </a:solidFill>
                <a:latin typeface="Montserrat"/>
              </a:rPr>
              <a:t>Formato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1609344"/>
            <a:ext cx="86868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Montserrat"/>
              </a:rPr>
              <a:t>20 minutos | Auditório ~50 lugares | Sem Q&amp;A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048256"/>
            <a:ext cx="11247120" cy="438912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084832"/>
            <a:ext cx="25603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6AFF"/>
                </a:solidFill>
                <a:latin typeface="Montserrat"/>
              </a:rPr>
              <a:t>Palestrante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2084832"/>
            <a:ext cx="86868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Montserrat"/>
              </a:rPr>
              <a:t>Executivo Klabin (CFO/CIO/Head de Dados — a confirmar)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523744"/>
            <a:ext cx="11247120" cy="438912"/>
          </a:xfrm>
          <a:prstGeom prst="rect">
            <a:avLst/>
          </a:prstGeom>
          <a:solidFill>
            <a:srgbClr val="10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560320"/>
            <a:ext cx="25603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6AFF"/>
                </a:solidFill>
                <a:latin typeface="Montserrat"/>
              </a:rPr>
              <a:t>Palestrante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2560320"/>
            <a:ext cx="86868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Montserrat"/>
              </a:rPr>
              <a:t>Alexandre Kuntgen (Solveplan)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2999232"/>
            <a:ext cx="11247120" cy="438912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035808"/>
            <a:ext cx="25603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6AFF"/>
                </a:solidFill>
                <a:latin typeface="Montserrat"/>
              </a:rPr>
              <a:t>Prazo submissão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0" y="3035808"/>
            <a:ext cx="86868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Montserrat"/>
              </a:rPr>
              <a:t>⚠️  26/06/2026 — NÃO PODE ATRASAR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1546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6AFF"/>
                </a:solidFill>
                <a:latin typeface="Montserrat"/>
              </a:rPr>
              <a:t>Estrutura da sessão (20 min):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566160"/>
            <a:ext cx="1371600" cy="438912"/>
          </a:xfrm>
          <a:prstGeom prst="rect">
            <a:avLst/>
          </a:prstGeom>
          <a:solidFill>
            <a:srgbClr val="006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3602736"/>
            <a:ext cx="13716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Tempo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011680" y="3566160"/>
            <a:ext cx="6858000" cy="438912"/>
          </a:xfrm>
          <a:prstGeom prst="rect">
            <a:avLst/>
          </a:prstGeom>
          <a:solidFill>
            <a:srgbClr val="006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057400" y="3602736"/>
            <a:ext cx="68580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Bloco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869680" y="3566160"/>
            <a:ext cx="3200400" cy="438912"/>
          </a:xfrm>
          <a:prstGeom prst="rect">
            <a:avLst/>
          </a:prstGeom>
          <a:solidFill>
            <a:srgbClr val="006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15400" y="3602736"/>
            <a:ext cx="3200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Speaker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005072"/>
            <a:ext cx="1371600" cy="402336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041648"/>
            <a:ext cx="13716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0–3 min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011680" y="4005072"/>
            <a:ext cx="6858000" cy="402336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57400" y="4041648"/>
            <a:ext cx="68580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O desafio: como era antes, a dor real de dados na Klabin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869680" y="4005072"/>
            <a:ext cx="3200400" cy="402336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15400" y="4041648"/>
            <a:ext cx="3200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Executivo Klabin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4407407"/>
            <a:ext cx="1371600" cy="402336"/>
          </a:xfrm>
          <a:prstGeom prst="rect">
            <a:avLst/>
          </a:prstGeom>
          <a:solidFill>
            <a:srgbClr val="10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4443983"/>
            <a:ext cx="13716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3–8 min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011680" y="4407407"/>
            <a:ext cx="6858000" cy="402336"/>
          </a:xfrm>
          <a:prstGeom prst="rect">
            <a:avLst/>
          </a:prstGeom>
          <a:solidFill>
            <a:srgbClr val="10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057400" y="4443983"/>
            <a:ext cx="68580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A decisão: por que SAP BDC, por que Solveplan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869680" y="4407407"/>
            <a:ext cx="3200400" cy="402336"/>
          </a:xfrm>
          <a:prstGeom prst="rect">
            <a:avLst/>
          </a:prstGeom>
          <a:solidFill>
            <a:srgbClr val="10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915400" y="4443983"/>
            <a:ext cx="3200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Alexandre Kuntgen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" y="4809744"/>
            <a:ext cx="1371600" cy="402336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85800" y="4846320"/>
            <a:ext cx="13716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8–15 min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011680" y="4809744"/>
            <a:ext cx="6858000" cy="402336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057400" y="4846320"/>
            <a:ext cx="68580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O que mudou: antes × depois com números reais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869680" y="4809744"/>
            <a:ext cx="3200400" cy="402336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915400" y="4846320"/>
            <a:ext cx="3200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Executivo Klabin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40080" y="5212080"/>
            <a:ext cx="1371600" cy="402336"/>
          </a:xfrm>
          <a:prstGeom prst="rect">
            <a:avLst/>
          </a:prstGeom>
          <a:solidFill>
            <a:srgbClr val="10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85800" y="5248656"/>
            <a:ext cx="13716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15–18 min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011680" y="5212080"/>
            <a:ext cx="6858000" cy="402336"/>
          </a:xfrm>
          <a:prstGeom prst="rect">
            <a:avLst/>
          </a:prstGeom>
          <a:solidFill>
            <a:srgbClr val="10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057400" y="5248656"/>
            <a:ext cx="68580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O futuro: próximos passos com IA (alinha com tema do evento)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869680" y="5212080"/>
            <a:ext cx="3200400" cy="402336"/>
          </a:xfrm>
          <a:prstGeom prst="rect">
            <a:avLst/>
          </a:prstGeom>
          <a:solidFill>
            <a:srgbClr val="10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915400" y="5248656"/>
            <a:ext cx="3200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Ambos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40080" y="5614416"/>
            <a:ext cx="1371600" cy="402336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85800" y="5650992"/>
            <a:ext cx="13716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18–20 min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011680" y="5614416"/>
            <a:ext cx="6858000" cy="402336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057400" y="5650992"/>
            <a:ext cx="68580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CTA: 'Venha ao nosso estande — estamos no slot [X]'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869680" y="5614416"/>
            <a:ext cx="3200400" cy="402336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915400" y="5650992"/>
            <a:ext cx="3200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Alexandre Kuntgen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11274552" cy="640080"/>
          </a:xfrm>
          <a:prstGeom prst="rect">
            <a:avLst/>
          </a:prstGeom>
          <a:solidFill>
            <a:srgbClr val="006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ontserrat"/>
              </a:rPr>
              <a:t>Comunicação — Social Media &amp; E-mail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6AFF"/>
                </a:solidFill>
                <a:latin typeface="Montserrat"/>
              </a:rPr>
              <a:t>Calendário de publicações (LinkedIn):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63040"/>
            <a:ext cx="1645920" cy="438912"/>
          </a:xfrm>
          <a:prstGeom prst="rect">
            <a:avLst/>
          </a:prstGeom>
          <a:solidFill>
            <a:srgbClr val="006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499616"/>
            <a:ext cx="16459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Data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0" y="1463040"/>
            <a:ext cx="9144000" cy="438912"/>
          </a:xfrm>
          <a:prstGeom prst="rect">
            <a:avLst/>
          </a:prstGeom>
          <a:solidFill>
            <a:srgbClr val="006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331720" y="1499616"/>
            <a:ext cx="91440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Publicação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901952"/>
            <a:ext cx="1645920" cy="365760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938528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21/jul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86000" y="1901952"/>
            <a:ext cx="9144000" cy="365760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31720" y="1938528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Primeiro post — 'Estaremos no SAP NOW 2026'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267712"/>
            <a:ext cx="1645920" cy="365760"/>
          </a:xfrm>
          <a:prstGeom prst="rect">
            <a:avLst/>
          </a:prstGeom>
          <a:solidFill>
            <a:srgbClr val="10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2304288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30/jul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86000" y="2267712"/>
            <a:ext cx="9144000" cy="365760"/>
          </a:xfrm>
          <a:prstGeom prst="rect">
            <a:avLst/>
          </a:prstGeom>
          <a:solidFill>
            <a:srgbClr val="10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31720" y="2304288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Post de expectativa / sessão com Klabin anunciada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2633472"/>
            <a:ext cx="1645920" cy="365760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2670048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11/ago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286000" y="2633472"/>
            <a:ext cx="9144000" cy="365760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331720" y="2670048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Post de contagem regressiva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2999232"/>
            <a:ext cx="1645920" cy="365760"/>
          </a:xfrm>
          <a:prstGeom prst="rect">
            <a:avLst/>
          </a:prstGeom>
          <a:solidFill>
            <a:srgbClr val="10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3035808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01/set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286000" y="2999232"/>
            <a:ext cx="9144000" cy="365760"/>
          </a:xfrm>
          <a:prstGeom prst="rect">
            <a:avLst/>
          </a:prstGeom>
          <a:solidFill>
            <a:srgbClr val="10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331720" y="3035808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'Em 8 dias estaremos lá'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3364992"/>
            <a:ext cx="1645920" cy="365760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3401568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08/set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286000" y="3364992"/>
            <a:ext cx="9144000" cy="365760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331720" y="3401568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'É amanhã!' — com localização do estande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3730752"/>
            <a:ext cx="1645920" cy="365760"/>
          </a:xfrm>
          <a:prstGeom prst="rect">
            <a:avLst/>
          </a:prstGeom>
          <a:solidFill>
            <a:srgbClr val="10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3767328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09/set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286000" y="3730752"/>
            <a:ext cx="9144000" cy="365760"/>
          </a:xfrm>
          <a:prstGeom prst="rect">
            <a:avLst/>
          </a:prstGeom>
          <a:solidFill>
            <a:srgbClr val="10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331720" y="3767328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Cobertura ao vivo — Dia 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4096512"/>
            <a:ext cx="1645920" cy="365760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4133088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10/set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286000" y="4096512"/>
            <a:ext cx="9144000" cy="365760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331720" y="4133088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Cobertura ao vivo — Dia 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" y="4462272"/>
            <a:ext cx="1645920" cy="365760"/>
          </a:xfrm>
          <a:prstGeom prst="rect">
            <a:avLst/>
          </a:prstGeom>
          <a:solidFill>
            <a:srgbClr val="10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5800" y="4498848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11/set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286000" y="4462272"/>
            <a:ext cx="9144000" cy="365760"/>
          </a:xfrm>
          <a:prstGeom prst="rect">
            <a:avLst/>
          </a:prstGeom>
          <a:solidFill>
            <a:srgbClr val="10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331720" y="4498848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Post pós-evento — highlights + agradecimento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" y="4617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6AFF"/>
                </a:solidFill>
                <a:latin typeface="Montserrat"/>
              </a:rPr>
              <a:t>E-mails Marketing: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50292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Montserrat"/>
              </a:rPr>
              <a:t>▸  Save the date → Base geral (Mai/Jun)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" y="537667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Montserrat"/>
              </a:rPr>
              <a:t>▸  Convite + link inscrição → Prospects e clientes (Jun/Jul)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" y="5724144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Montserrat"/>
              </a:rPr>
              <a:t>▸  Lembrete sessão Klabin → Inscritos confirmados (Ago)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080" y="6071616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Montserrat"/>
              </a:rPr>
              <a:t>▸  'É amanhã!' → Inscritos confirmados (08/set)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" y="6419088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Montserrat"/>
              </a:rPr>
              <a:t>▸  Agradecimento pós-evento → Todos os leads (D+1)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11274552" cy="640080"/>
          </a:xfrm>
          <a:prstGeom prst="rect">
            <a:avLst/>
          </a:prstGeom>
          <a:solidFill>
            <a:srgbClr val="006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ontserrat"/>
              </a:rPr>
              <a:t>Comunicação — Anúncios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5303520" cy="2560320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06AFF"/>
                </a:solidFill>
                <a:latin typeface="Montserrat"/>
              </a:rPr>
              <a:t>1. Anúncios em Hotéis SP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Montserrat"/>
              </a:rPr>
              <a:t>▸  Período: 8, 9 e 10 de setembro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5740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Montserrat"/>
              </a:rPr>
              <a:t>▸  ~28 faces/telas em hotéis da região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231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Montserrat"/>
              </a:rPr>
              <a:t>▸  Valor ref.: R$ 2.805 (2025)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8892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Montserrat"/>
              </a:rPr>
              <a:t>▸  Aprovação: antes de 31/ago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097280"/>
            <a:ext cx="5303520" cy="2560320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188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06AFF"/>
                </a:solidFill>
                <a:latin typeface="Montserrat"/>
              </a:rPr>
              <a:t>2. Geolocalização no Evento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16916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Montserrat"/>
              </a:rPr>
              <a:t>▸  Google Ads + LinkedIn Ads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05740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Montserrat"/>
              </a:rPr>
              <a:t>▸  Raio: 20km do Transamerica Expo Center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231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Montserrat"/>
              </a:rPr>
              <a:t>▸  Período: 8, 9 e 10 de setembro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78892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Montserrat"/>
              </a:rPr>
              <a:t>▸  'Estamos no SAP NOW — venha ao estande Solveplan'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15468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Montserrat"/>
              </a:rPr>
              <a:t>▸  Valor: a orçar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840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6AFF"/>
                </a:solidFill>
                <a:latin typeface="Montserrat"/>
              </a:rPr>
              <a:t>UTMs Padrão: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251960"/>
            <a:ext cx="3200400" cy="438912"/>
          </a:xfrm>
          <a:prstGeom prst="rect">
            <a:avLst/>
          </a:prstGeom>
          <a:solidFill>
            <a:srgbClr val="006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288536"/>
            <a:ext cx="3200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Canal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840480" y="4251960"/>
            <a:ext cx="2011680" cy="438912"/>
          </a:xfrm>
          <a:prstGeom prst="rect">
            <a:avLst/>
          </a:prstGeom>
          <a:solidFill>
            <a:srgbClr val="006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86200" y="4288536"/>
            <a:ext cx="20116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UTM Source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52160" y="4251960"/>
            <a:ext cx="2011680" cy="438912"/>
          </a:xfrm>
          <a:prstGeom prst="rect">
            <a:avLst/>
          </a:prstGeom>
          <a:solidFill>
            <a:srgbClr val="006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97880" y="4288536"/>
            <a:ext cx="20116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UTM Medium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863840" y="4251960"/>
            <a:ext cx="3200400" cy="438912"/>
          </a:xfrm>
          <a:prstGeom prst="rect">
            <a:avLst/>
          </a:prstGeom>
          <a:solidFill>
            <a:srgbClr val="006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09560" y="4288536"/>
            <a:ext cx="3200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UTM Campaign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690872"/>
            <a:ext cx="3200400" cy="347472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727448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Organic Social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840480" y="4690872"/>
            <a:ext cx="2011680" cy="347472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86200" y="472744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linkedin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852160" y="4690872"/>
            <a:ext cx="2011680" cy="347472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897880" y="472744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organic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863840" y="4690872"/>
            <a:ext cx="3200400" cy="347472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09560" y="4727448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sap-now-2026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" y="5038344"/>
            <a:ext cx="3200400" cy="347472"/>
          </a:xfrm>
          <a:prstGeom prst="rect">
            <a:avLst/>
          </a:prstGeom>
          <a:solidFill>
            <a:srgbClr val="10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5074920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Paid Social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840480" y="5038344"/>
            <a:ext cx="2011680" cy="347472"/>
          </a:xfrm>
          <a:prstGeom prst="rect">
            <a:avLst/>
          </a:prstGeom>
          <a:solidFill>
            <a:srgbClr val="10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86200" y="507492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linkedin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852160" y="5038344"/>
            <a:ext cx="2011680" cy="347472"/>
          </a:xfrm>
          <a:prstGeom prst="rect">
            <a:avLst/>
          </a:prstGeom>
          <a:solidFill>
            <a:srgbClr val="10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897880" y="507492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cpc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863840" y="5038344"/>
            <a:ext cx="3200400" cy="347472"/>
          </a:xfrm>
          <a:prstGeom prst="rect">
            <a:avLst/>
          </a:prstGeom>
          <a:solidFill>
            <a:srgbClr val="10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909560" y="5074920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sap-now-2026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0080" y="5385816"/>
            <a:ext cx="3200400" cy="347472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85800" y="5422392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E-mail Marketing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840480" y="5385816"/>
            <a:ext cx="2011680" cy="347472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886200" y="5422392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email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852160" y="5385816"/>
            <a:ext cx="2011680" cy="347472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897880" y="5422392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newsletter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863840" y="5385816"/>
            <a:ext cx="3200400" cy="347472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909560" y="5422392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sap-now-2026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40080" y="5733288"/>
            <a:ext cx="3200400" cy="347472"/>
          </a:xfrm>
          <a:prstGeom prst="rect">
            <a:avLst/>
          </a:prstGeom>
          <a:solidFill>
            <a:srgbClr val="10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85800" y="5769864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Form inscrição SAP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840480" y="5733288"/>
            <a:ext cx="2011680" cy="347472"/>
          </a:xfrm>
          <a:prstGeom prst="rect">
            <a:avLst/>
          </a:prstGeom>
          <a:solidFill>
            <a:srgbClr val="10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886200" y="5769864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sap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852160" y="5733288"/>
            <a:ext cx="2011680" cy="347472"/>
          </a:xfrm>
          <a:prstGeom prst="rect">
            <a:avLst/>
          </a:prstGeom>
          <a:solidFill>
            <a:srgbClr val="10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897880" y="5769864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event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863840" y="5733288"/>
            <a:ext cx="3200400" cy="347472"/>
          </a:xfrm>
          <a:prstGeom prst="rect">
            <a:avLst/>
          </a:prstGeom>
          <a:solidFill>
            <a:srgbClr val="10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909560" y="5769864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sap-now-2026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11274552" cy="640080"/>
          </a:xfrm>
          <a:prstGeom prst="rect">
            <a:avLst/>
          </a:prstGeom>
          <a:solidFill>
            <a:srgbClr val="006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ontserrat"/>
              </a:rPr>
              <a:t>Geração de Demanda Pré-evento — SDR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11430000" cy="438912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33856"/>
            <a:ext cx="18288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6AFF"/>
                </a:solidFill>
                <a:latin typeface="Montserrat"/>
              </a:rPr>
              <a:t>Objetivo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0" y="1133856"/>
            <a:ext cx="9601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Montserrat"/>
              </a:rPr>
              <a:t>Preencher slots de diagnóstico BDC no estande antes do evento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572768"/>
            <a:ext cx="11430000" cy="438912"/>
          </a:xfrm>
          <a:prstGeom prst="rect">
            <a:avLst/>
          </a:prstGeom>
          <a:solidFill>
            <a:srgbClr val="10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09344"/>
            <a:ext cx="18288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6AFF"/>
                </a:solidFill>
                <a:latin typeface="Montserrat"/>
              </a:rPr>
              <a:t>Meta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0" y="1609344"/>
            <a:ext cx="9601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Montserrat"/>
              </a:rPr>
              <a:t>120 empresas abordadas → 12 agendas confirmadas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048256"/>
            <a:ext cx="11430000" cy="438912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084832"/>
            <a:ext cx="18288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6AFF"/>
                </a:solidFill>
                <a:latin typeface="Montserrat"/>
              </a:rPr>
              <a:t>Início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60320" y="2084832"/>
            <a:ext cx="9601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Montserrat"/>
              </a:rPr>
              <a:t>Junho 2026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523744"/>
            <a:ext cx="11430000" cy="438912"/>
          </a:xfrm>
          <a:prstGeom prst="rect">
            <a:avLst/>
          </a:prstGeom>
          <a:solidFill>
            <a:srgbClr val="10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560320"/>
            <a:ext cx="18288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6AFF"/>
                </a:solidFill>
                <a:latin typeface="Montserrat"/>
              </a:rPr>
              <a:t>SDRs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0" y="2560320"/>
            <a:ext cx="9601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Montserrat"/>
              </a:rPr>
              <a:t>2 SDRs (nomes a definir)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7432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6AFF"/>
                </a:solidFill>
                <a:latin typeface="Montserrat"/>
              </a:rPr>
              <a:t>Processo: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1546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Montserrat"/>
              </a:rPr>
              <a:t>▸  1. SDR identifica decisor (CIO/CFO/Head de Dados) nas empresas-alvo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53872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Montserrat"/>
              </a:rPr>
              <a:t>▸  2. Abordagem por e-mail + LinkedIn + telefone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922776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Montserrat"/>
              </a:rPr>
              <a:t>▸  3. Convite para slot de diagnóstico BDC no estande (15–20 min)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306824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Montserrat"/>
              </a:rPr>
              <a:t>▸  4. Confirmar agenda + registrar no CRM com tag SAP-NOW-2026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4846320"/>
            <a:ext cx="10972800" cy="822960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892040"/>
            <a:ext cx="10789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94FF96"/>
                </a:solidFill>
                <a:latin typeface="Montserrat"/>
              </a:rPr>
              <a:t>📞  Script SDR: "[Nome], estaremos no SAP NOW AI Tour em setembro com demo exclusiva de SAP BDC. Tenho um slot de 15 min reservado para você no estande da Solveplan — posso garantir o seu?"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11274552" cy="640080"/>
          </a:xfrm>
          <a:prstGeom prst="rect">
            <a:avLst/>
          </a:prstGeom>
          <a:solidFill>
            <a:srgbClr val="006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ontserrat"/>
              </a:rPr>
              <a:t>Cronograma Macro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1645920" cy="438912"/>
          </a:xfrm>
          <a:prstGeom prst="rect">
            <a:avLst/>
          </a:prstGeom>
          <a:solidFill>
            <a:srgbClr val="006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133856"/>
            <a:ext cx="16459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2103120" y="1097280"/>
            <a:ext cx="7315200" cy="438912"/>
          </a:xfrm>
          <a:prstGeom prst="rect">
            <a:avLst/>
          </a:prstGeom>
          <a:solidFill>
            <a:srgbClr val="006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148840" y="1133856"/>
            <a:ext cx="7315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Entrega</a:t>
            </a:r>
          </a:p>
        </p:txBody>
      </p:sp>
      <p:sp>
        <p:nvSpPr>
          <p:cNvPr id="8" name="Rectangle 7"/>
          <p:cNvSpPr/>
          <p:nvPr/>
        </p:nvSpPr>
        <p:spPr>
          <a:xfrm>
            <a:off x="9418320" y="1097280"/>
            <a:ext cx="2286000" cy="438912"/>
          </a:xfrm>
          <a:prstGeom prst="rect">
            <a:avLst/>
          </a:prstGeom>
          <a:solidFill>
            <a:srgbClr val="006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64040" y="1133856"/>
            <a:ext cx="22860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Responsável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536192"/>
            <a:ext cx="1645920" cy="338328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572768"/>
            <a:ext cx="16459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18/05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103120" y="1536192"/>
            <a:ext cx="7315200" cy="338328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48840" y="1572768"/>
            <a:ext cx="73152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Receber manual do patrocinador CAEX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418320" y="1536192"/>
            <a:ext cx="2286000" cy="338328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64040" y="1572768"/>
            <a:ext cx="22860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Fran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1874520"/>
            <a:ext cx="1645920" cy="338328"/>
          </a:xfrm>
          <a:prstGeom prst="rect">
            <a:avLst/>
          </a:prstGeom>
          <a:solidFill>
            <a:srgbClr val="10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1911096"/>
            <a:ext cx="16459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Mai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03120" y="1874520"/>
            <a:ext cx="7315200" cy="338328"/>
          </a:xfrm>
          <a:prstGeom prst="rect">
            <a:avLst/>
          </a:prstGeom>
          <a:solidFill>
            <a:srgbClr val="10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148840" y="1911096"/>
            <a:ext cx="73152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Lançar campanha 'Diagnóstico BDC Reservado'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418320" y="1874520"/>
            <a:ext cx="2286000" cy="338328"/>
          </a:xfrm>
          <a:prstGeom prst="rect">
            <a:avLst/>
          </a:prstGeom>
          <a:solidFill>
            <a:srgbClr val="10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64040" y="1911096"/>
            <a:ext cx="22860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Fran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2212848"/>
            <a:ext cx="1645920" cy="338328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2249424"/>
            <a:ext cx="16459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10/06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03120" y="2212848"/>
            <a:ext cx="7315200" cy="338328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148840" y="2249424"/>
            <a:ext cx="73152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⚡ Alinhar com Klabin — speaker e tema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18320" y="2212848"/>
            <a:ext cx="2286000" cy="338328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64040" y="2249424"/>
            <a:ext cx="22860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Fran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2551175"/>
            <a:ext cx="1645920" cy="338328"/>
          </a:xfrm>
          <a:prstGeom prst="rect">
            <a:avLst/>
          </a:prstGeom>
          <a:solidFill>
            <a:srgbClr val="10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2587751"/>
            <a:ext cx="16459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26/06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03120" y="2551175"/>
            <a:ext cx="7315200" cy="338328"/>
          </a:xfrm>
          <a:prstGeom prst="rect">
            <a:avLst/>
          </a:prstGeom>
          <a:solidFill>
            <a:srgbClr val="10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148840" y="2587751"/>
            <a:ext cx="73152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⚠️  Submeter sessão de conteúdo para SAP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418320" y="2551175"/>
            <a:ext cx="2286000" cy="338328"/>
          </a:xfrm>
          <a:prstGeom prst="rect">
            <a:avLst/>
          </a:prstGeom>
          <a:solidFill>
            <a:srgbClr val="10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64040" y="2587751"/>
            <a:ext cx="22860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Fran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2889504"/>
            <a:ext cx="1645920" cy="338328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920" y="2926080"/>
            <a:ext cx="16459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02/jun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03120" y="2889504"/>
            <a:ext cx="7315200" cy="338328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148840" y="2926080"/>
            <a:ext cx="73152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Liberação site e abertura de registros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418320" y="2889504"/>
            <a:ext cx="2286000" cy="338328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464040" y="2926080"/>
            <a:ext cx="22860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SAP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3227832"/>
            <a:ext cx="1645920" cy="338328"/>
          </a:xfrm>
          <a:prstGeom prst="rect">
            <a:avLst/>
          </a:prstGeom>
          <a:solidFill>
            <a:srgbClr val="10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2920" y="3264408"/>
            <a:ext cx="16459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Jun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03120" y="3227832"/>
            <a:ext cx="7315200" cy="338328"/>
          </a:xfrm>
          <a:prstGeom prst="rect">
            <a:avLst/>
          </a:prstGeom>
          <a:solidFill>
            <a:srgbClr val="10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148840" y="3264408"/>
            <a:ext cx="73152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Início abordagem SDR (2 SDRs)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418320" y="3227832"/>
            <a:ext cx="2286000" cy="338328"/>
          </a:xfrm>
          <a:prstGeom prst="rect">
            <a:avLst/>
          </a:prstGeom>
          <a:solidFill>
            <a:srgbClr val="10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464040" y="3264408"/>
            <a:ext cx="22860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SDRs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3566159"/>
            <a:ext cx="1645920" cy="338328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3602735"/>
            <a:ext cx="16459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31/07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103120" y="3566159"/>
            <a:ext cx="7315200" cy="338328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148840" y="3602735"/>
            <a:ext cx="73152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⚠️  Aprovação de ativações e brindes para SAP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418320" y="3566159"/>
            <a:ext cx="2286000" cy="338328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464040" y="3602735"/>
            <a:ext cx="22860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Fran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7200" y="3904488"/>
            <a:ext cx="1645920" cy="338328"/>
          </a:xfrm>
          <a:prstGeom prst="rect">
            <a:avLst/>
          </a:prstGeom>
          <a:solidFill>
            <a:srgbClr val="10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02920" y="3941064"/>
            <a:ext cx="16459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14/ago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103120" y="3904488"/>
            <a:ext cx="7315200" cy="338328"/>
          </a:xfrm>
          <a:prstGeom prst="rect">
            <a:avLst/>
          </a:prstGeom>
          <a:solidFill>
            <a:srgbClr val="10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148840" y="3941064"/>
            <a:ext cx="73152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Recebimento de brindes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418320" y="3904488"/>
            <a:ext cx="2286000" cy="338328"/>
          </a:xfrm>
          <a:prstGeom prst="rect">
            <a:avLst/>
          </a:prstGeom>
          <a:solidFill>
            <a:srgbClr val="10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464040" y="3941064"/>
            <a:ext cx="22860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Fornecedor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57200" y="4242816"/>
            <a:ext cx="1645920" cy="338328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02920" y="4279392"/>
            <a:ext cx="16459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25/ago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103120" y="4242816"/>
            <a:ext cx="7315200" cy="338328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148840" y="4279392"/>
            <a:ext cx="73152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App do evento lança / publicar slots diagnóstico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418320" y="4242816"/>
            <a:ext cx="2286000" cy="338328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464040" y="4279392"/>
            <a:ext cx="22860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SAP / Fran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7200" y="4581144"/>
            <a:ext cx="1645920" cy="338328"/>
          </a:xfrm>
          <a:prstGeom prst="rect">
            <a:avLst/>
          </a:prstGeom>
          <a:solidFill>
            <a:srgbClr val="10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02920" y="4617720"/>
            <a:ext cx="16459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Set/1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103120" y="4581144"/>
            <a:ext cx="7315200" cy="338328"/>
          </a:xfrm>
          <a:prstGeom prst="rect">
            <a:avLst/>
          </a:prstGeom>
          <a:solidFill>
            <a:srgbClr val="10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148840" y="4617720"/>
            <a:ext cx="73152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Treinamento e kickoff do time</a:t>
            </a:r>
          </a:p>
        </p:txBody>
      </p:sp>
      <p:sp>
        <p:nvSpPr>
          <p:cNvPr id="68" name="Rectangle 67"/>
          <p:cNvSpPr/>
          <p:nvPr/>
        </p:nvSpPr>
        <p:spPr>
          <a:xfrm>
            <a:off x="9418320" y="4581144"/>
            <a:ext cx="2286000" cy="338328"/>
          </a:xfrm>
          <a:prstGeom prst="rect">
            <a:avLst/>
          </a:prstGeom>
          <a:solidFill>
            <a:srgbClr val="10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464040" y="4617720"/>
            <a:ext cx="22860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Fran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57200" y="4919471"/>
            <a:ext cx="1645920" cy="338328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02920" y="4956047"/>
            <a:ext cx="16459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08/set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103120" y="4919471"/>
            <a:ext cx="7315200" cy="338328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148840" y="4956047"/>
            <a:ext cx="73152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Montagem do estande + entrega todos os itens</a:t>
            </a:r>
          </a:p>
        </p:txBody>
      </p:sp>
      <p:sp>
        <p:nvSpPr>
          <p:cNvPr id="74" name="Rectangle 73"/>
          <p:cNvSpPr/>
          <p:nvPr/>
        </p:nvSpPr>
        <p:spPr>
          <a:xfrm>
            <a:off x="9418320" y="4919471"/>
            <a:ext cx="2286000" cy="338328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464040" y="4956047"/>
            <a:ext cx="22860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Time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57200" y="5257800"/>
            <a:ext cx="1645920" cy="338328"/>
          </a:xfrm>
          <a:prstGeom prst="rect">
            <a:avLst/>
          </a:prstGeom>
          <a:solidFill>
            <a:srgbClr val="10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02920" y="5294376"/>
            <a:ext cx="16459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09–10/set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103120" y="5257800"/>
            <a:ext cx="7315200" cy="338328"/>
          </a:xfrm>
          <a:prstGeom prst="rect">
            <a:avLst/>
          </a:prstGeom>
          <a:solidFill>
            <a:srgbClr val="10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148840" y="5294376"/>
            <a:ext cx="73152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⭐  SAP NOW AI Tour Brazil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9418320" y="5257800"/>
            <a:ext cx="2286000" cy="338328"/>
          </a:xfrm>
          <a:prstGeom prst="rect">
            <a:avLst/>
          </a:prstGeom>
          <a:solidFill>
            <a:srgbClr val="10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464040" y="5294376"/>
            <a:ext cx="22860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—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57200" y="5596128"/>
            <a:ext cx="1645920" cy="338328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02920" y="5632704"/>
            <a:ext cx="16459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10/set</a:t>
            </a:r>
          </a:p>
        </p:txBody>
      </p:sp>
      <p:sp>
        <p:nvSpPr>
          <p:cNvPr id="84" name="Rectangle 83"/>
          <p:cNvSpPr/>
          <p:nvPr/>
        </p:nvSpPr>
        <p:spPr>
          <a:xfrm>
            <a:off x="2103120" y="5596128"/>
            <a:ext cx="7315200" cy="338328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148840" y="5632704"/>
            <a:ext cx="73152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Download mailing + início follow-up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418320" y="5596128"/>
            <a:ext cx="2286000" cy="338328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9464040" y="5632704"/>
            <a:ext cx="22860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SDRs + Fran</a:t>
            </a:r>
          </a:p>
        </p:txBody>
      </p:sp>
      <p:sp>
        <p:nvSpPr>
          <p:cNvPr id="88" name="Rectangle 87"/>
          <p:cNvSpPr/>
          <p:nvPr/>
        </p:nvSpPr>
        <p:spPr>
          <a:xfrm>
            <a:off x="457200" y="5934455"/>
            <a:ext cx="1645920" cy="338328"/>
          </a:xfrm>
          <a:prstGeom prst="rect">
            <a:avLst/>
          </a:prstGeom>
          <a:solidFill>
            <a:srgbClr val="10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02920" y="5971031"/>
            <a:ext cx="16459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16/set</a:t>
            </a:r>
          </a:p>
        </p:txBody>
      </p:sp>
      <p:sp>
        <p:nvSpPr>
          <p:cNvPr id="90" name="Rectangle 89"/>
          <p:cNvSpPr/>
          <p:nvPr/>
        </p:nvSpPr>
        <p:spPr>
          <a:xfrm>
            <a:off x="2103120" y="5934455"/>
            <a:ext cx="7315200" cy="338328"/>
          </a:xfrm>
          <a:prstGeom prst="rect">
            <a:avLst/>
          </a:prstGeom>
          <a:solidFill>
            <a:srgbClr val="10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2148840" y="5971031"/>
            <a:ext cx="73152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Relatório de resultados</a:t>
            </a:r>
          </a:p>
        </p:txBody>
      </p:sp>
      <p:sp>
        <p:nvSpPr>
          <p:cNvPr id="92" name="Rectangle 91"/>
          <p:cNvSpPr/>
          <p:nvPr/>
        </p:nvSpPr>
        <p:spPr>
          <a:xfrm>
            <a:off x="9418320" y="5934455"/>
            <a:ext cx="2286000" cy="338328"/>
          </a:xfrm>
          <a:prstGeom prst="rect">
            <a:avLst/>
          </a:prstGeom>
          <a:solidFill>
            <a:srgbClr val="10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9464040" y="5971031"/>
            <a:ext cx="22860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Fran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11274552" cy="640080"/>
          </a:xfrm>
          <a:prstGeom prst="rect">
            <a:avLst/>
          </a:prstGeom>
          <a:solidFill>
            <a:srgbClr val="006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ontserrat"/>
              </a:rPr>
              <a:t>Orçamento Previsto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0" cy="438912"/>
          </a:xfrm>
          <a:prstGeom prst="rect">
            <a:avLst/>
          </a:prstGeom>
          <a:solidFill>
            <a:srgbClr val="006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33856"/>
            <a:ext cx="82296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Item</a:t>
            </a:r>
          </a:p>
        </p:txBody>
      </p:sp>
      <p:sp>
        <p:nvSpPr>
          <p:cNvPr id="6" name="Rectangle 5"/>
          <p:cNvSpPr/>
          <p:nvPr/>
        </p:nvSpPr>
        <p:spPr>
          <a:xfrm>
            <a:off x="8869680" y="1097280"/>
            <a:ext cx="3200400" cy="438912"/>
          </a:xfrm>
          <a:prstGeom prst="rect">
            <a:avLst/>
          </a:prstGeom>
          <a:solidFill>
            <a:srgbClr val="006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15400" y="1133856"/>
            <a:ext cx="3200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Valor previsto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536192"/>
            <a:ext cx="8229600" cy="374904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572768"/>
            <a:ext cx="8229600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Produção do estande (arte + layout)</a:t>
            </a:r>
          </a:p>
        </p:txBody>
      </p:sp>
      <p:sp>
        <p:nvSpPr>
          <p:cNvPr id="10" name="Rectangle 9"/>
          <p:cNvSpPr/>
          <p:nvPr/>
        </p:nvSpPr>
        <p:spPr>
          <a:xfrm>
            <a:off x="8869680" y="1536192"/>
            <a:ext cx="3200400" cy="374904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15400" y="1572768"/>
            <a:ext cx="3200400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~R$ 3.700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1911095"/>
            <a:ext cx="8229600" cy="374904"/>
          </a:xfrm>
          <a:prstGeom prst="rect">
            <a:avLst/>
          </a:prstGeom>
          <a:solidFill>
            <a:srgbClr val="10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1947671"/>
            <a:ext cx="8229600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Quiz/Totem interativo (Entretec)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869680" y="1911095"/>
            <a:ext cx="3200400" cy="374904"/>
          </a:xfrm>
          <a:prstGeom prst="rect">
            <a:avLst/>
          </a:prstGeom>
          <a:solidFill>
            <a:srgbClr val="10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15400" y="1947671"/>
            <a:ext cx="3200400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~R$ 11.200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2285999"/>
            <a:ext cx="8229600" cy="374904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2322575"/>
            <a:ext cx="8229600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Brindes (canetas + moleskine — 500 un.)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69680" y="2285999"/>
            <a:ext cx="3200400" cy="374904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5400" y="2322575"/>
            <a:ext cx="3200400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~R$ 10.480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2660904"/>
            <a:ext cx="8229600" cy="374904"/>
          </a:xfrm>
          <a:prstGeom prst="rect">
            <a:avLst/>
          </a:prstGeom>
          <a:solidFill>
            <a:srgbClr val="10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2697480"/>
            <a:ext cx="8229600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Camisetas equipe (25 un.)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869680" y="2660904"/>
            <a:ext cx="3200400" cy="374904"/>
          </a:xfrm>
          <a:prstGeom prst="rect">
            <a:avLst/>
          </a:prstGeom>
          <a:solidFill>
            <a:srgbClr val="10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15400" y="2697480"/>
            <a:ext cx="3200400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~R$ 2.875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3035808"/>
            <a:ext cx="8229600" cy="374904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3072384"/>
            <a:ext cx="8229600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Cartões de visita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869680" y="3035808"/>
            <a:ext cx="3200400" cy="374904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915400" y="3072384"/>
            <a:ext cx="3200400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~R$ 3.700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3410712"/>
            <a:ext cx="8229600" cy="374904"/>
          </a:xfrm>
          <a:prstGeom prst="rect">
            <a:avLst/>
          </a:prstGeom>
          <a:solidFill>
            <a:srgbClr val="10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3447288"/>
            <a:ext cx="8229600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Coletores de dados CAEX (2 un.)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869680" y="3410712"/>
            <a:ext cx="3200400" cy="374904"/>
          </a:xfrm>
          <a:prstGeom prst="rect">
            <a:avLst/>
          </a:prstGeom>
          <a:solidFill>
            <a:srgbClr val="10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15400" y="3447288"/>
            <a:ext cx="3200400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~R$ 1.100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3785616"/>
            <a:ext cx="8229600" cy="374904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3822192"/>
            <a:ext cx="8229600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KVA energia (2 un.)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869680" y="3785616"/>
            <a:ext cx="3200400" cy="374904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915400" y="3822192"/>
            <a:ext cx="3200400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~R$ 780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" y="4160519"/>
            <a:ext cx="8229600" cy="374904"/>
          </a:xfrm>
          <a:prstGeom prst="rect">
            <a:avLst/>
          </a:prstGeom>
          <a:solidFill>
            <a:srgbClr val="10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5800" y="4197095"/>
            <a:ext cx="8229600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Anúncios hotéis SP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869680" y="4160519"/>
            <a:ext cx="3200400" cy="374904"/>
          </a:xfrm>
          <a:prstGeom prst="rect">
            <a:avLst/>
          </a:prstGeom>
          <a:solidFill>
            <a:srgbClr val="10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915400" y="4197095"/>
            <a:ext cx="3200400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~R$ 2.805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0080" y="4535424"/>
            <a:ext cx="8229600" cy="374904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5800" y="4572000"/>
            <a:ext cx="8229600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Vídeo looping + depoimentos + teasers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869680" y="4535424"/>
            <a:ext cx="3200400" cy="374904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915400" y="4572000"/>
            <a:ext cx="3200400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~R$ 5.280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40080" y="4910328"/>
            <a:ext cx="8229600" cy="374904"/>
          </a:xfrm>
          <a:prstGeom prst="rect">
            <a:avLst/>
          </a:prstGeom>
          <a:solidFill>
            <a:srgbClr val="10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85800" y="4946904"/>
            <a:ext cx="8229600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Anúncios geolocalização (Google + LinkedIn)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869680" y="4910328"/>
            <a:ext cx="3200400" cy="374904"/>
          </a:xfrm>
          <a:prstGeom prst="rect">
            <a:avLst/>
          </a:prstGeom>
          <a:solidFill>
            <a:srgbClr val="10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915400" y="4946904"/>
            <a:ext cx="3200400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A orçar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40080" y="5285232"/>
            <a:ext cx="8229600" cy="374904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85800" y="5321808"/>
            <a:ext cx="8229600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Hotel equipe + Internet CAEX + Campanha pré-evento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869680" y="5285232"/>
            <a:ext cx="3200400" cy="374904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915400" y="5321808"/>
            <a:ext cx="3200400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A definir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40080" y="5660136"/>
            <a:ext cx="8229600" cy="374904"/>
          </a:xfrm>
          <a:prstGeom prst="rect">
            <a:avLst/>
          </a:prstGeom>
          <a:solidFill>
            <a:srgbClr val="10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85800" y="5696712"/>
            <a:ext cx="8229600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Adicionais (displays, cabos, etc.)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869680" y="5660136"/>
            <a:ext cx="3200400" cy="374904"/>
          </a:xfrm>
          <a:prstGeom prst="rect">
            <a:avLst/>
          </a:prstGeom>
          <a:solidFill>
            <a:srgbClr val="10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915400" y="5696712"/>
            <a:ext cx="3200400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~R$ 500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40080" y="6035040"/>
            <a:ext cx="8229600" cy="374904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85800" y="6071616"/>
            <a:ext cx="8229600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TOTAL DISPONÍVEL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869680" y="6035040"/>
            <a:ext cx="3200400" cy="374904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915400" y="6071616"/>
            <a:ext cx="3200400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R$ 276.510,21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11274552" cy="640080"/>
          </a:xfrm>
          <a:prstGeom prst="rect">
            <a:avLst/>
          </a:prstGeom>
          <a:solidFill>
            <a:srgbClr val="006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ontserrat"/>
              </a:rPr>
              <a:t>Convite a Clientes C-Level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10972800" cy="548640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94FF96"/>
                </a:solidFill>
                <a:latin typeface="Montserrat"/>
              </a:rPr>
              <a:t>Benefício Gold: convites ilimitados para clientes C-level do patrocinador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6AFF"/>
                </a:solidFill>
                <a:latin typeface="Montserrat"/>
              </a:rPr>
              <a:t>Critérios SAP: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Montserrat"/>
              </a:rPr>
              <a:t>▸  C-level / Diretoria — preferencialmente em São Paulo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24328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Montserrat"/>
              </a:rPr>
              <a:t>▸  Máximo 2 contatos por empresa/conta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08376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Montserrat"/>
              </a:rPr>
              <a:t>▸  Todos passam por aprovação SAP antes da confirmação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828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6AFF"/>
                </a:solidFill>
                <a:latin typeface="Montserrat"/>
              </a:rPr>
              <a:t>Processo: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24028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Montserrat"/>
              </a:rPr>
              <a:t>▸  1. Enviar convite personalizado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624328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Montserrat"/>
              </a:rPr>
              <a:t>▸  2. Participante se inscreve pelo link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008376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Montserrat"/>
              </a:rPr>
              <a:t>▸  3. SAP analisa e confirma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3392424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Montserrat"/>
              </a:rPr>
              <a:t>▸  4. Participante recebe e-mail de confirmação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749039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6AFF"/>
                </a:solidFill>
                <a:latin typeface="Montserrat"/>
              </a:rPr>
              <a:t>Lista estratégica — até 15 clientes (a definir com sócios até 10/ago):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160520"/>
            <a:ext cx="3657600" cy="438912"/>
          </a:xfrm>
          <a:prstGeom prst="rect">
            <a:avLst/>
          </a:prstGeom>
          <a:solidFill>
            <a:srgbClr val="006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4197096"/>
            <a:ext cx="36576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Empresa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0" y="4160520"/>
            <a:ext cx="2743200" cy="438912"/>
          </a:xfrm>
          <a:prstGeom prst="rect">
            <a:avLst/>
          </a:prstGeom>
          <a:solidFill>
            <a:srgbClr val="006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43400" y="4197096"/>
            <a:ext cx="2743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Contato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040880" y="4160520"/>
            <a:ext cx="2743200" cy="438912"/>
          </a:xfrm>
          <a:prstGeom prst="rect">
            <a:avLst/>
          </a:prstGeom>
          <a:solidFill>
            <a:srgbClr val="006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86600" y="4197096"/>
            <a:ext cx="2743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Cargo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784080" y="4160520"/>
            <a:ext cx="2286000" cy="438912"/>
          </a:xfrm>
          <a:prstGeom prst="rect">
            <a:avLst/>
          </a:prstGeom>
          <a:solidFill>
            <a:srgbClr val="006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29800" y="4197096"/>
            <a:ext cx="22860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Status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4599432"/>
            <a:ext cx="3657600" cy="365760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636008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A definir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97680" y="4599432"/>
            <a:ext cx="2743200" cy="365760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43400" y="4636008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—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040880" y="4599432"/>
            <a:ext cx="2743200" cy="365760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86600" y="4636008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—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784080" y="4599432"/>
            <a:ext cx="2286000" cy="365760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829800" y="463600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Pendente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4965192"/>
            <a:ext cx="3657600" cy="365760"/>
          </a:xfrm>
          <a:prstGeom prst="rect">
            <a:avLst/>
          </a:prstGeom>
          <a:solidFill>
            <a:srgbClr val="10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5001768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A definir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297680" y="4965192"/>
            <a:ext cx="2743200" cy="365760"/>
          </a:xfrm>
          <a:prstGeom prst="rect">
            <a:avLst/>
          </a:prstGeom>
          <a:solidFill>
            <a:srgbClr val="10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43400" y="5001768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—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040880" y="4965192"/>
            <a:ext cx="2743200" cy="365760"/>
          </a:xfrm>
          <a:prstGeom prst="rect">
            <a:avLst/>
          </a:prstGeom>
          <a:solidFill>
            <a:srgbClr val="10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086600" y="5001768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—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784080" y="4965192"/>
            <a:ext cx="2286000" cy="365760"/>
          </a:xfrm>
          <a:prstGeom prst="rect">
            <a:avLst/>
          </a:prstGeom>
          <a:solidFill>
            <a:srgbClr val="10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829800" y="500176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Pendente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0080" y="5330952"/>
            <a:ext cx="3657600" cy="365760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5800" y="5367528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A definir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97680" y="5330952"/>
            <a:ext cx="2743200" cy="365760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43400" y="5367528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—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040880" y="5330952"/>
            <a:ext cx="2743200" cy="365760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086600" y="5367528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784080" y="5330952"/>
            <a:ext cx="2286000" cy="365760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29800" y="536752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Pendente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40080" y="5696712"/>
            <a:ext cx="3657600" cy="365760"/>
          </a:xfrm>
          <a:prstGeom prst="rect">
            <a:avLst/>
          </a:prstGeom>
          <a:solidFill>
            <a:srgbClr val="10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85800" y="5733288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A definir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97680" y="5696712"/>
            <a:ext cx="2743200" cy="365760"/>
          </a:xfrm>
          <a:prstGeom prst="rect">
            <a:avLst/>
          </a:prstGeom>
          <a:solidFill>
            <a:srgbClr val="10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343400" y="5733288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—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040880" y="5696712"/>
            <a:ext cx="2743200" cy="365760"/>
          </a:xfrm>
          <a:prstGeom prst="rect">
            <a:avLst/>
          </a:prstGeom>
          <a:solidFill>
            <a:srgbClr val="10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086600" y="5733288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—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784080" y="5696712"/>
            <a:ext cx="2286000" cy="365760"/>
          </a:xfrm>
          <a:prstGeom prst="rect">
            <a:avLst/>
          </a:prstGeom>
          <a:solidFill>
            <a:srgbClr val="10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829800" y="573328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Pendente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40080" y="6062472"/>
            <a:ext cx="3657600" cy="365760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85800" y="6099048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A definir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297680" y="6062472"/>
            <a:ext cx="2743200" cy="365760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343400" y="6099048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—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040880" y="6062472"/>
            <a:ext cx="2743200" cy="365760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086600" y="6099048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—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784080" y="6062472"/>
            <a:ext cx="2286000" cy="365760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829800" y="609904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Pendente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74320"/>
            <a:ext cx="11274552" cy="640080"/>
          </a:xfrm>
          <a:prstGeom prst="rect">
            <a:avLst/>
          </a:prstGeom>
          <a:solidFill>
            <a:srgbClr val="006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ontserrat"/>
              </a:rPr>
              <a:t>Vídeo Stand (Looping) + Vídeos do Evento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6AFF"/>
                </a:solidFill>
                <a:latin typeface="Montserrat"/>
              </a:rPr>
              <a:t>Vídeo looping — TV do estande: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Montserrat"/>
              </a:rPr>
              <a:t>▸  Cortes de cases (Klabin, clientes BDC)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9280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Montserrat"/>
              </a:rPr>
              <a:t>▸  Comerciais SAP BDC / ofertas de produtos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76856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Montserrat"/>
              </a:rPr>
              <a:t>▸  Dashboards de BI ao vivo / demos visuais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60904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Montserrat"/>
              </a:rPr>
              <a:t>▸  Aceleradores Solveplan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44952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Montserrat"/>
              </a:rPr>
              <a:t>▸  Formato: MP4, 16:9, 1920x1080 — looping contínuo | 2 pens drive (principal + backup)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0175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CCCC"/>
                </a:solidFill>
                <a:latin typeface="Montserrat"/>
              </a:rPr>
              <a:t>Prazo de entrega: até 25/ago  |  Produção: a contratar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520440"/>
            <a:ext cx="10515600" cy="18288"/>
          </a:xfrm>
          <a:prstGeom prst="rect">
            <a:avLst/>
          </a:prstGeom>
          <a:solidFill>
            <a:srgbClr val="006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7033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6AFF"/>
                </a:solidFill>
                <a:latin typeface="Montserrat"/>
              </a:rPr>
              <a:t>Vídeos durante o evento: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114800"/>
            <a:ext cx="5943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Montserrat"/>
              </a:rPr>
              <a:t>▸  Shorts para redes sociais (9:16)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498848"/>
            <a:ext cx="5943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Montserrat"/>
              </a:rPr>
              <a:t>▸  Depoimentos curtos com clientes presentes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882896"/>
            <a:ext cx="5943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Montserrat"/>
              </a:rPr>
              <a:t>▸  Gravação de cases (confirmar disponibilidade)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4114800"/>
            <a:ext cx="5486400" cy="438912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4151376"/>
            <a:ext cx="3200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6AFF"/>
                </a:solidFill>
                <a:latin typeface="Montserrat"/>
              </a:rPr>
              <a:t>Pacote 4 vídeos depoimento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92640" y="4151376"/>
            <a:ext cx="22860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Montserrat"/>
              </a:rPr>
              <a:t>~R$ 3.680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4590288"/>
            <a:ext cx="5486400" cy="438912"/>
          </a:xfrm>
          <a:prstGeom prst="rect">
            <a:avLst/>
          </a:prstGeom>
          <a:solidFill>
            <a:srgbClr val="10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4626864"/>
            <a:ext cx="3200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6AFF"/>
                </a:solidFill>
                <a:latin typeface="Montserrat"/>
              </a:rPr>
              <a:t>Vídeos teasers (4 un.)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92640" y="4626864"/>
            <a:ext cx="22860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Montserrat"/>
              </a:rPr>
              <a:t>~R$ 1.600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5065776"/>
            <a:ext cx="5486400" cy="438912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5102352"/>
            <a:ext cx="3200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6AFF"/>
                </a:solidFill>
                <a:latin typeface="Montserrat"/>
              </a:rPr>
              <a:t>Edição adicional por vídeo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92640" y="5102352"/>
            <a:ext cx="22860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Montserrat"/>
              </a:rPr>
              <a:t>~R$ 890/un.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6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006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Montserrat"/>
              </a:rPr>
              <a:t>Próximos Passos Críticos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08760"/>
            <a:ext cx="5486400" cy="18288"/>
          </a:xfrm>
          <a:prstGeom prst="rect">
            <a:avLst/>
          </a:prstGeom>
          <a:solidFill>
            <a:srgbClr val="006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737360"/>
            <a:ext cx="1828800" cy="438912"/>
          </a:xfrm>
          <a:prstGeom prst="rect">
            <a:avLst/>
          </a:prstGeom>
          <a:solidFill>
            <a:srgbClr val="006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773936"/>
            <a:ext cx="18288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Prazo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1737360"/>
            <a:ext cx="8229600" cy="438912"/>
          </a:xfrm>
          <a:prstGeom prst="rect">
            <a:avLst/>
          </a:prstGeom>
          <a:solidFill>
            <a:srgbClr val="006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23160" y="1773936"/>
            <a:ext cx="82296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Ação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607040" y="1737360"/>
            <a:ext cx="1371600" cy="438912"/>
          </a:xfrm>
          <a:prstGeom prst="rect">
            <a:avLst/>
          </a:prstGeom>
          <a:solidFill>
            <a:srgbClr val="006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52760" y="1773936"/>
            <a:ext cx="13716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Status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176272"/>
            <a:ext cx="1828800" cy="475488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212848"/>
            <a:ext cx="1828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Hoje 18/05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377440" y="2176272"/>
            <a:ext cx="8229600" cy="475488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23160" y="2212848"/>
            <a:ext cx="8229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Ler manual CAEX — confirmar posição e regras do estande 2026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607040" y="2176272"/>
            <a:ext cx="1371600" cy="475488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52760" y="2212848"/>
            <a:ext cx="1371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⏳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651760"/>
            <a:ext cx="1828800" cy="475488"/>
          </a:xfrm>
          <a:prstGeom prst="rect">
            <a:avLst/>
          </a:prstGeom>
          <a:solidFill>
            <a:srgbClr val="10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2688336"/>
            <a:ext cx="1828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Mai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377440" y="2651760"/>
            <a:ext cx="8229600" cy="475488"/>
          </a:xfrm>
          <a:prstGeom prst="rect">
            <a:avLst/>
          </a:prstGeom>
          <a:solidFill>
            <a:srgbClr val="10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23160" y="2688336"/>
            <a:ext cx="8229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Lançar campanha 'Diagnóstico BDC Reservado' (LinkedIn Ads)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607040" y="2651760"/>
            <a:ext cx="1371600" cy="475488"/>
          </a:xfrm>
          <a:prstGeom prst="rect">
            <a:avLst/>
          </a:prstGeom>
          <a:solidFill>
            <a:srgbClr val="10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652760" y="2688336"/>
            <a:ext cx="1371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⏳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3127248"/>
            <a:ext cx="1828800" cy="475488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3163824"/>
            <a:ext cx="1828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10/06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377440" y="3127248"/>
            <a:ext cx="8229600" cy="475488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423160" y="3163824"/>
            <a:ext cx="8229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Alinhar com Klabin — speaker, cargo, tema da sessão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607040" y="3127248"/>
            <a:ext cx="1371600" cy="475488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652760" y="3163824"/>
            <a:ext cx="1371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⏳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3602736"/>
            <a:ext cx="1828800" cy="475488"/>
          </a:xfrm>
          <a:prstGeom prst="rect">
            <a:avLst/>
          </a:prstGeom>
          <a:solidFill>
            <a:srgbClr val="10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" y="3639312"/>
            <a:ext cx="1828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26/06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377440" y="3602736"/>
            <a:ext cx="8229600" cy="475488"/>
          </a:xfrm>
          <a:prstGeom prst="rect">
            <a:avLst/>
          </a:prstGeom>
          <a:solidFill>
            <a:srgbClr val="10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23160" y="3639312"/>
            <a:ext cx="8229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⚠️  Submeter sessão de conteúdo para SAP (CRÍTICO)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607040" y="3602736"/>
            <a:ext cx="1371600" cy="475488"/>
          </a:xfrm>
          <a:prstGeom prst="rect">
            <a:avLst/>
          </a:prstGeom>
          <a:solidFill>
            <a:srgbClr val="10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652760" y="3639312"/>
            <a:ext cx="1371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⏳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4078224"/>
            <a:ext cx="1828800" cy="475488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4360" y="4114800"/>
            <a:ext cx="1828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31/07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377440" y="4078224"/>
            <a:ext cx="8229600" cy="475488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423160" y="4114800"/>
            <a:ext cx="8229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⚠️  Aprovação de ativações + brindes para SAP (CRÍTICO)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607040" y="4078224"/>
            <a:ext cx="1371600" cy="475488"/>
          </a:xfrm>
          <a:prstGeom prst="rect">
            <a:avLst/>
          </a:prstGeom>
          <a:solidFill>
            <a:srgbClr val="0A0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652760" y="4114800"/>
            <a:ext cx="1371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ontserrat"/>
              </a:rPr>
              <a:t>⏳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5760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66666"/>
                </a:solidFill>
                <a:latin typeface="Montserrat"/>
              </a:rPr>
              <a:t>SAP NOW AI Tour Brazil 2026  |  9–10 Set  |  Transamérica Expo Center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