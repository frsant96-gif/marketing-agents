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Campanha de Marketing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Fábrica de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5A800"/>
                </a:solidFill>
              </a:rPr>
              <a:t>Geração de Leads — Q3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Julho · Agosto · Setembro 2026  |  SAC / Datasphere por demanda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9107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2F6C"/>
                </a:solidFill>
              </a:rPr>
              <a:t>solveplan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88952" cy="109728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2F6C"/>
                </a:solidFill>
              </a:rPr>
              <a:t>As Dores Reais dos Clientes — VoC de 18 Reuniões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47120" cy="4572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</a:rPr>
              <a:t>Baseado em falas explícitas dos clientes. Nenhuma inferência.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2743200" cy="43891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2743200" cy="73152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417320"/>
            <a:ext cx="252374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F6C"/>
                </a:solidFill>
              </a:rPr>
              <a:t>SAC contratado,
não utilizado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2121408"/>
            <a:ext cx="2523744" cy="4572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2212848"/>
            <a:ext cx="252374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</a:rPr>
              <a:t>"tentamos usar, não foi muito bem aceito"
"temos licenciamento... não chegamos a evoluir"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4937760"/>
            <a:ext cx="2523744" cy="45720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4937760"/>
            <a:ext cx="2523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2F6C"/>
                </a:solidFill>
              </a:rPr>
              <a:t>4 reuniões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0128" y="1325880"/>
            <a:ext cx="2743200" cy="43891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10128" y="1325880"/>
            <a:ext cx="274320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19856" y="1417320"/>
            <a:ext cx="252374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F6C"/>
                </a:solidFill>
              </a:rPr>
              <a:t>RFC em risco
de bloqueio SAP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19856" y="2121408"/>
            <a:ext cx="2523744" cy="45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19856" y="2212848"/>
            <a:ext cx="252374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</a:rPr>
              <a:t>"nós estamos assombrados com isso"
"sem ele basicamente a fábrica pararia"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19856" y="4937760"/>
            <a:ext cx="2523744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19856" y="4937760"/>
            <a:ext cx="2523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 reuniões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54496" y="1325880"/>
            <a:ext cx="2743200" cy="43891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54496" y="1325880"/>
            <a:ext cx="2743200" cy="73152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1417320"/>
            <a:ext cx="252374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F6C"/>
                </a:solidFill>
              </a:rPr>
              <a:t>S4 sobrecarregado
com relatórios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64224" y="2121408"/>
            <a:ext cx="2523744" cy="4572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2212848"/>
            <a:ext cx="252374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</a:rPr>
              <a:t>"eu preciso desafogar o nosso S4"
"vai vir uma fatura no final"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64224" y="4937760"/>
            <a:ext cx="2523744" cy="45720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4937760"/>
            <a:ext cx="2523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 reuniões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98864" y="1325880"/>
            <a:ext cx="2743200" cy="43891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98864" y="1325880"/>
            <a:ext cx="2743200" cy="73152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08592" y="1417320"/>
            <a:ext cx="252374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F6C"/>
                </a:solidFill>
              </a:rPr>
              <a:t>Capacidade técnica
interna insuficiente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308592" y="2121408"/>
            <a:ext cx="2523744" cy="4572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08592" y="2212848"/>
            <a:ext cx="252374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</a:rPr>
              <a:t>"a gente queria uma empresa para dar suporte
nessa passagem de conhecimento"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308592" y="4937760"/>
            <a:ext cx="2523744" cy="45720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08592" y="4937760"/>
            <a:ext cx="2523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 reuniões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57607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</a:rPr>
              <a:t>⚠  O que NÃO usar: IA/preditivo, BDC como posicionamento amplo, Joule/Copilot — zero menções espontâneas nas 18 reuniões.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88952" cy="109728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2F6C"/>
                </a:solidFill>
              </a:rPr>
              <a:t>Público-Alvo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47120" cy="4572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5394960" cy="48463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2F6C"/>
                </a:solidFill>
              </a:rPr>
              <a:t>Perfil do ICP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36192"/>
            <a:ext cx="5120640" cy="4572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2763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F6C"/>
                </a:solidFill>
              </a:rPr>
              <a:t>Cargos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62763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Gerente/Coord. de TI, Head de Dados/BI
Gestor de FP&amp;A, Controller, CFO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22199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F6C"/>
                </a:solidFill>
              </a:rPr>
              <a:t>Empresa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22199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Médio e grande porte
S4HANA ou RISE com SAC contratado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81635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F6C"/>
                </a:solidFill>
              </a:rPr>
              <a:t>Segmentos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81635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Indústria · Varejo · Agronegócio · Financeiro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41071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F6C"/>
                </a:solidFill>
              </a:rPr>
              <a:t>Tamanho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41071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Faturamento &gt; R$ 500M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005840"/>
            <a:ext cx="5577840" cy="48463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09728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2F6C"/>
                </a:solidFill>
              </a:rPr>
              <a:t>Momento de Compra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1536192"/>
            <a:ext cx="5394960" cy="4572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80" y="1627632"/>
            <a:ext cx="5394960" cy="566928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1700784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800"/>
                </a:solidFill>
              </a:rPr>
              <a:t>SAC parado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1700784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Licença ativa, ferramenta sem uso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2286000"/>
            <a:ext cx="5394960" cy="566928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2359152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800"/>
                </a:solidFill>
              </a:rPr>
              <a:t>RFC em risco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79" y="2359152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Arquitetura depende de RFC — nota SAP vigente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5080" y="2944368"/>
            <a:ext cx="5394960" cy="566928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3017520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800"/>
                </a:solidFill>
              </a:rPr>
              <a:t>S4 pesado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79" y="3017520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Relatórios rodando no transacional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5080" y="3602735"/>
            <a:ext cx="5394960" cy="566928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3675887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800"/>
                </a:solidFill>
              </a:rPr>
              <a:t>Sem time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79" y="3675887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TI sem capacidade técnica para evoluir SAC/Datasphere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4261103"/>
            <a:ext cx="5394960" cy="566928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4334255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800"/>
                </a:solidFill>
              </a:rPr>
              <a:t>Pós-RISE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79" y="4334255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Go Live recente, jornada analítica não iniciada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88952" cy="109728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2F6C"/>
                </a:solidFill>
              </a:rPr>
              <a:t>4 Ângulos de Mensagem — Um por Dor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47120" cy="4572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5486400" cy="27432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640080" cy="274320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0116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2F6C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15568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2F6C"/>
                </a:solidFill>
              </a:rPr>
              <a:t>SAC Parado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1645920"/>
            <a:ext cx="4572000" cy="4572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178308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4444"/>
                </a:solidFill>
              </a:rPr>
              <a:t>"Você já tem o SAC contratado. Nós colocamos ele pra trabalhar — sem aumentar sua equipe, sem projeto de meses."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005840"/>
            <a:ext cx="5486400" cy="27432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005840"/>
            <a:ext cx="640080" cy="2743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20116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59" y="1115568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2F6C"/>
                </a:solidFill>
              </a:rPr>
              <a:t>RFC Urgente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59" y="1645920"/>
            <a:ext cx="4572000" cy="45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95159" y="178308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4444"/>
                </a:solidFill>
              </a:rPr>
              <a:t>"A SAP vai bloquear suas extrações via RFC. Existe uma rota de transição que não exige reescrever tudo do zero."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657600"/>
            <a:ext cx="5486400" cy="27432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657600"/>
            <a:ext cx="640080" cy="274320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6634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767328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2F6C"/>
                </a:solidFill>
              </a:rPr>
              <a:t>S4 Sobrecarregado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4297680"/>
            <a:ext cx="4572000" cy="4572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443484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4444"/>
                </a:solidFill>
              </a:rPr>
              <a:t>"Seu S4 não é para relatórios. Cada query analítica no transacional consome memória e vai aparecer na sua fatura."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3657600"/>
            <a:ext cx="5486400" cy="27432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3657600"/>
            <a:ext cx="640080" cy="274320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46634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59" y="3767328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2F6C"/>
                </a:solidFill>
              </a:rPr>
              <a:t>Capacidade Técnica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95159" y="4297680"/>
            <a:ext cx="4572000" cy="4572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95159" y="443484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4444"/>
                </a:solidFill>
              </a:rPr>
              <a:t>"Evolua seu SAC sem depender do time interno. Banco de horas, por demanda, com especialistas em +150 empresas SAP."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88952" cy="109728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2F6C"/>
                </a:solidFill>
              </a:rPr>
              <a:t>Metas de Sucesso — Q3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47120" cy="4572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</a:rPr>
              <a:t>Conservadoras e defensáveis para um nicho B2B SAP. 1 deal fechado paga o investimento inteiro da campanha.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1737360" cy="347472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82880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A800"/>
                </a:solidFill>
              </a:rPr>
              <a:t>30–50 mil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47472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Alcance
(impressões)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23160" y="1371600"/>
            <a:ext cx="1737360" cy="347472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23160" y="182880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A800"/>
                </a:solidFill>
              </a:rPr>
              <a:t>8–12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47472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Leads
Gerados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371600"/>
            <a:ext cx="1737360" cy="347472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82880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A800"/>
                </a:solidFill>
              </a:rPr>
              <a:t>4–7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47472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MQLs
(qualificados)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37960" y="1371600"/>
            <a:ext cx="1737360" cy="347472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182880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A800"/>
                </a:solidFill>
              </a:rPr>
              <a:t>2–4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47472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Reuniões
Agendadas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95360" y="1371600"/>
            <a:ext cx="1737360" cy="347472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0" y="182880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A800"/>
                </a:solidFill>
              </a:rPr>
              <a:t>1–2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347472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Oportunidades
Abertas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149840" y="1371600"/>
            <a:ext cx="1737360" cy="347472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49840" y="182880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A800"/>
                </a:solidFill>
              </a:rPr>
              <a:t>R$ 678k
–1,3M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40" y="347472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Pipeline
Gerado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1206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2F6C"/>
                </a:solidFill>
              </a:rPr>
              <a:t>Ticket médio Solveplan: R$ 678.406  |  Meta de CPL: &lt; R$ 2.500  |  MQL/Lead: &gt; 50%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577840"/>
            <a:ext cx="11430000" cy="5029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60527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2F6C"/>
                </a:solidFill>
              </a:rPr>
              <a:t>Racional: com 8–12 leads qualificados e ticket médio de R$ 678k, 1 deal fecha R$ 678k de pipeline — ROI positivo em qualquer cenário de budget razoável.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88952" cy="109728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2F6C"/>
                </a:solidFill>
              </a:rPr>
              <a:t>Canais e Formatos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47120" cy="4572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874519" cy="48463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05840"/>
            <a:ext cx="1874519" cy="73152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09728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2F6C"/>
                </a:solidFill>
              </a:rPr>
              <a:t>Email
Marketing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79" y="1709928"/>
            <a:ext cx="1691640" cy="4572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1801368"/>
            <a:ext cx="1691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Reativar 95 warm leads
dos eventos H1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79" y="3063240"/>
            <a:ext cx="1691640" cy="384048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3063240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2F6C"/>
                </a:solidFill>
              </a:rPr>
              <a:t>Alta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3547872"/>
            <a:ext cx="1691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44444"/>
                </a:solidFill>
              </a:rPr>
              <a:t>Custo zero — base já qualificada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13432" y="1005840"/>
            <a:ext cx="1874519" cy="48463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13432" y="1005840"/>
            <a:ext cx="1874519" cy="73152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04872" y="109728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2F6C"/>
                </a:solidFill>
              </a:rPr>
              <a:t>LinkedIn
Orgânico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04872" y="1709928"/>
            <a:ext cx="1691640" cy="4572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04872" y="1801368"/>
            <a:ext cx="1691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4 posts (um por ângulo
de dor)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04872" y="3063240"/>
            <a:ext cx="1691640" cy="384048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04872" y="3063240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2F6C"/>
                </a:solidFill>
              </a:rPr>
              <a:t>Alta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04872" y="3547872"/>
            <a:ext cx="1691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44444"/>
                </a:solidFill>
              </a:rPr>
              <a:t>ICP ativo no LinkedIn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06824" y="1005840"/>
            <a:ext cx="1874519" cy="48463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06824" y="1005840"/>
            <a:ext cx="1874519" cy="73152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98264" y="109728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2F6C"/>
                </a:solidFill>
              </a:rPr>
              <a:t>LinkedIn
Ads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98264" y="1709928"/>
            <a:ext cx="1691640" cy="4572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98264" y="1801368"/>
            <a:ext cx="1691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Lead gen form +
sponsored content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98264" y="3063240"/>
            <a:ext cx="1691640" cy="384048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98264" y="3063240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2F6C"/>
                </a:solidFill>
              </a:rPr>
              <a:t>Alta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98264" y="3547872"/>
            <a:ext cx="1691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44444"/>
                </a:solidFill>
              </a:rPr>
              <a:t>Segmentação precisa por cargo + empresa SAP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0216" y="1005840"/>
            <a:ext cx="1874519" cy="48463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0216" y="1005840"/>
            <a:ext cx="1874519" cy="73152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91656" y="109728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2F6C"/>
                </a:solidFill>
              </a:rPr>
              <a:t>Google
Ads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91656" y="1709928"/>
            <a:ext cx="1691640" cy="4572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91656" y="1801368"/>
            <a:ext cx="1691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Keywords RFC,
SAC Planning, Datasphere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91656" y="3063240"/>
            <a:ext cx="1691640" cy="384048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91656" y="3063240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2F6C"/>
                </a:solidFill>
              </a:rPr>
              <a:t>Alta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91656" y="3547872"/>
            <a:ext cx="1691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44444"/>
                </a:solidFill>
              </a:rPr>
              <a:t>CPC R$ 2,48 | CTR 4,97% — já performa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93608" y="1005840"/>
            <a:ext cx="1874519" cy="48463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293608" y="1005840"/>
            <a:ext cx="1874519" cy="73152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85048" y="109728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2F6C"/>
                </a:solidFill>
              </a:rPr>
              <a:t>Blog /
Artigo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385048" y="1709928"/>
            <a:ext cx="1691640" cy="4572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85048" y="1801368"/>
            <a:ext cx="1691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1 artigo por ângulo
(SEO)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85048" y="3063240"/>
            <a:ext cx="1691640" cy="384048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85048" y="3063240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Média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85048" y="3547872"/>
            <a:ext cx="1691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44444"/>
                </a:solidFill>
              </a:rPr>
              <a:t>Médio prazo — autoridade e tráfego orgânico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287000" y="1005840"/>
            <a:ext cx="1874519" cy="48463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287000" y="1005840"/>
            <a:ext cx="1874519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378440" y="109728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2F6C"/>
                </a:solidFill>
              </a:rPr>
              <a:t>WhatsApp
Direto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378440" y="1709928"/>
            <a:ext cx="1691640" cy="45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378440" y="1801368"/>
            <a:ext cx="1691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Follow-up dos
95 warm leads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378440" y="3063240"/>
            <a:ext cx="169164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378440" y="3063240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2F6C"/>
                </a:solidFill>
              </a:rPr>
              <a:t>URGENTE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378440" y="3547872"/>
            <a:ext cx="1691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44444"/>
                </a:solidFill>
              </a:rPr>
              <a:t>Primeira ação — antes de qualquer mídia paga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88952" cy="109728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2F6C"/>
                </a:solidFill>
              </a:rPr>
              <a:t>Cronograma — Q3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47120" cy="4572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2743200" cy="59436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0584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PRÉ-CAMPANHA
Até 04/07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00200"/>
            <a:ext cx="2743200" cy="42519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691640"/>
            <a:ext cx="2542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• Segmentar 95 warm leads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221992"/>
            <a:ext cx="2542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• Criar sequência de emails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2752344"/>
            <a:ext cx="2542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• Configurar LinkedIn Ads + Google Ads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3282696"/>
            <a:ext cx="2542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• Criar landing page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3813048"/>
            <a:ext cx="2542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• Briefar time comercial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0128" y="1005840"/>
            <a:ext cx="2743200" cy="59436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10128" y="100584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JULHO
07–31/07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10128" y="1600200"/>
            <a:ext cx="2743200" cy="42519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19856" y="1691640"/>
            <a:ext cx="2542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• Semana 1: Reativar warm leads — RFC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19856" y="2221992"/>
            <a:ext cx="2542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• Semana 2: LinkedIn posts + Ads ativos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19856" y="2752344"/>
            <a:ext cx="2542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• Semana 3: Email RFC + Google Ads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19856" y="3282696"/>
            <a:ext cx="2542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• Semana 4: Artigo RFC + posts ângulo 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54496" y="1005840"/>
            <a:ext cx="2743200" cy="59436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54496" y="100584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AGOSTO
04–29/08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54496" y="1600200"/>
            <a:ext cx="2743200" cy="42519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1691640"/>
            <a:ext cx="2542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• Semana 5: Email S4 sobrecarregado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2221992"/>
            <a:ext cx="2542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• Semana 6: Posts ângulo capacidade técnica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4224" y="2752344"/>
            <a:ext cx="2542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• Semana 7: Email SAC como BI + artigo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64224" y="3282696"/>
            <a:ext cx="2542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• Semana 8: Revisão mid-campaign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98864" y="1005840"/>
            <a:ext cx="2743200" cy="59436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98864" y="100584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SETEMBRO
01–30/09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98864" y="1600200"/>
            <a:ext cx="2743200" cy="42519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08592" y="1691640"/>
            <a:ext cx="2542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• Acelerar canal líder (definir em ago)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08592" y="2221992"/>
            <a:ext cx="2542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• Reativar leads não convertidos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08592" y="2752344"/>
            <a:ext cx="2542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• Follow-up e qualificação comercial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08592" y="3282696"/>
            <a:ext cx="2542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• Relatório Q3 + aprendizados para Q4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88952" cy="109728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2F6C"/>
                </a:solidFill>
              </a:rPr>
              <a:t>Budget Estimado e Peças Necessárias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47120" cy="4572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2F6C"/>
                </a:solidFill>
              </a:rPr>
              <a:t>Budget estimado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35608"/>
            <a:ext cx="5486400" cy="4572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5486400" cy="4572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72768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LinkedIn 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572768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R$ 3.000–6.000/mês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984248"/>
            <a:ext cx="5486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048255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Google Ads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048255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R$ 1.500–3.000/mês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459736"/>
            <a:ext cx="5486400" cy="4572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52374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Produção de peças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523744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R$ 1.500–2.500 (único)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935224"/>
            <a:ext cx="5486400" cy="45720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999232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Total Q3 estimado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2999232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800"/>
                </a:solidFill>
              </a:rPr>
              <a:t>R$ 16.000–29.000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502152"/>
            <a:ext cx="5486400" cy="5029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54787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2F6C"/>
                </a:solidFill>
              </a:rPr>
              <a:t>Google Ads atual: CPC R$ 2,48 · CTR 4,97% — canal de menor risco para escalar.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10058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2F6C"/>
                </a:solidFill>
              </a:rPr>
              <a:t>Peças necessárias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1435608"/>
            <a:ext cx="5212080" cy="4572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0" y="1508760"/>
            <a:ext cx="5486400" cy="384048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155448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2F6C"/>
                </a:solidFill>
              </a:rPr>
              <a:t>Peça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155448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2F6C"/>
                </a:solidFill>
              </a:rPr>
              <a:t>Canal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155448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2F6C"/>
                </a:solidFill>
              </a:rPr>
              <a:t>Skill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0" y="1911095"/>
            <a:ext cx="5486400" cy="38404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1956815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Email RFC (3 emails)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1956815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Email marketing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98480" y="1956815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F6C"/>
                </a:solidFill>
              </a:rPr>
              <a:t>/material-campanha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0" y="2313432"/>
            <a:ext cx="54864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2359151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Email SAC parado (3 emails)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0" y="2359151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Email marketing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98480" y="2359151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F6C"/>
                </a:solidFill>
              </a:rPr>
              <a:t>/material-campanha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0" y="2715768"/>
            <a:ext cx="5486400" cy="38404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0" y="2761487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4 posts LinkedIn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2761487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LinkedIn orgânico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98480" y="2761487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F6C"/>
                </a:solidFill>
              </a:rPr>
              <a:t>/post-social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0" y="3118103"/>
            <a:ext cx="54864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75120" y="3163823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Banners LinkedIn Ads (3 var)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0" y="3163823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LinkedIn Ads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98480" y="3163823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F6C"/>
                </a:solidFill>
              </a:rPr>
              <a:t>/anuncio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0" y="3520439"/>
            <a:ext cx="5486400" cy="38404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75120" y="3566159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Landing page diagnóstico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52560" y="3566159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Paid + orgânico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98480" y="3566159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F6C"/>
                </a:solidFill>
              </a:rPr>
              <a:t>/material-campanha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80" y="3922776"/>
            <a:ext cx="54864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75120" y="396849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Artigo RFC bloqueado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2560" y="3968496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Blog / SEO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698480" y="3968496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F6C"/>
                </a:solidFill>
              </a:rPr>
              <a:t>/artigo-blog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83680" y="4325112"/>
            <a:ext cx="5486400" cy="38404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75120" y="437083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Artigo SAC parado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52560" y="437083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Blog / SEO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698480" y="437083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F6C"/>
                </a:solidFill>
              </a:rPr>
              <a:t>/artigo-blog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583680" y="4727448"/>
            <a:ext cx="54864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675120" y="477316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Copy Google Ads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52560" y="477316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Google Ads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698480" y="477316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F6C"/>
                </a:solidFill>
              </a:rPr>
              <a:t>/anuncio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Próximos Passos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05840"/>
            <a:ext cx="10698480" cy="4572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143000"/>
            <a:ext cx="548640" cy="475488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143000"/>
            <a:ext cx="548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2F6C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207008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Reativar os 95 warm leads dos eventos H1 via WhatsApp/email — ação imediata, custo zero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21240" y="120700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5A800"/>
                </a:solidFill>
              </a:rPr>
              <a:t>Esta semana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709928"/>
            <a:ext cx="548640" cy="475488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709928"/>
            <a:ext cx="548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2F6C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1773936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Segmentar base por dor (RFC / SAC parado / S4 heavy) no HubSpot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21240" y="177393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5A800"/>
                </a:solidFill>
              </a:rPr>
              <a:t>Até 27/06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276856"/>
            <a:ext cx="548640" cy="475488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276856"/>
            <a:ext cx="548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2F6C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2340864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Criar sequência de emails por ângulo de dor — /material-campanha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2124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5A800"/>
                </a:solidFill>
              </a:rPr>
              <a:t>Até 04/07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843784"/>
            <a:ext cx="548640" cy="475488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2843784"/>
            <a:ext cx="548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2F6C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2907792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Configurar LinkedIn Ads + Google Ads com ângulos RFC e SAC parado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290779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5A800"/>
                </a:solidFill>
              </a:rPr>
              <a:t>Até 04/07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410712"/>
            <a:ext cx="548640" cy="475488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410712"/>
            <a:ext cx="548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2F6C"/>
                </a:solidFill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3474720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Criar landing page: diagnóstico gratuito 30 min do seu ambiente SAC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21240" y="347472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5A800"/>
                </a:solidFill>
              </a:rPr>
              <a:t>Até 04/07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3977640"/>
            <a:ext cx="548640" cy="475488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977640"/>
            <a:ext cx="548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2F6C"/>
                </a:solidFill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4041648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Publicar artigo: 'RFC bloqueado — o que muda no seu ambiente SAP'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21240" y="404164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5A800"/>
                </a:solidFill>
              </a:rPr>
              <a:t>Semana 4/jul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4544568"/>
            <a:ext cx="548640" cy="475488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544568"/>
            <a:ext cx="548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2F6C"/>
                </a:solidFill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4608576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Revisar performance mid-campaign e otimizar canais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21240" y="460857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5A800"/>
                </a:solidFill>
              </a:rPr>
              <a:t>25/08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5111496"/>
            <a:ext cx="548640" cy="475488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111496"/>
            <a:ext cx="548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2F6C"/>
                </a:solidFill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17320" y="5175504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Relatório Q3 + planejamento Q4 com os aprendizados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21240" y="517550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5A800"/>
                </a:solidFill>
              </a:rPr>
              <a:t>07/10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629107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2F6C"/>
                </a:solidFill>
              </a:rPr>
              <a:t>solveplan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