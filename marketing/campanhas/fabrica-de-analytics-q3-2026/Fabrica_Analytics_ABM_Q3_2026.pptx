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91072"/>
            <a:ext cx="12188952" cy="5669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0" y="109728"/>
            <a:ext cx="45720" cy="6181344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Campanha Integrada — Q3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Fábrica de
Analytics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632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A800"/>
                </a:solidFill>
              </a:rPr>
              <a:t>LinkedIn Ads + Email Marketing — Fase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0332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BBBBB"/>
                </a:solidFill>
              </a:rPr>
              <a:t>"A implantação do SAP foi só o começo.
Quem cuida do que vem depois?"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6634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</a:rPr>
              <a:t>Julho · Agosto · Setembro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0" y="1280160"/>
            <a:ext cx="5120640" cy="868680"/>
          </a:xfrm>
          <a:prstGeom prst="rect">
            <a:avLst/>
          </a:prstGeom>
          <a:solidFill>
            <a:srgbClr val="002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325880"/>
            <a:ext cx="1371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5A800"/>
                </a:solidFill>
              </a:rPr>
              <a:t>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148132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contas-alvo (Tier 1 + 2)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2286000"/>
            <a:ext cx="5120640" cy="868680"/>
          </a:xfrm>
          <a:prstGeom prst="rect">
            <a:avLst/>
          </a:prstGeom>
          <a:solidFill>
            <a:srgbClr val="002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2331720"/>
            <a:ext cx="1371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5A800"/>
                </a:solidFill>
              </a:rP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248716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contas Tier 1 — InMail 1:1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3291840"/>
            <a:ext cx="5120640" cy="868680"/>
          </a:xfrm>
          <a:prstGeom prst="rect">
            <a:avLst/>
          </a:prstGeom>
          <a:solidFill>
            <a:srgbClr val="002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3337560"/>
            <a:ext cx="1371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5A800"/>
                </a:solidFill>
              </a:rPr>
              <a:t>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349300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contas Tier 2 — 3 verticais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4297680"/>
            <a:ext cx="5120640" cy="868680"/>
          </a:xfrm>
          <a:prstGeom prst="rect">
            <a:avLst/>
          </a:prstGeom>
          <a:solidFill>
            <a:srgbClr val="002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0" y="4343400"/>
            <a:ext cx="1371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5A800"/>
                </a:solidFill>
              </a:rPr>
              <a:t>2+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449884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oportunidades esperadas Q3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364224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2F6C"/>
                </a:solidFill>
              </a:rPr>
              <a:t>solveplan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91072"/>
            <a:ext cx="12188952" cy="1097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2F6C"/>
                </a:solidFill>
              </a:rPr>
              <a:t>Estrutura da Campanha — Fase 1 Q3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1124712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1">
                <a:solidFill>
                  <a:srgbClr val="002F6C"/>
                </a:solidFill>
              </a:rPr>
              <a:t>"A implantação do SAP foi só o começo. Quem cuida do que vem depois?"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5394960" cy="466344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371600"/>
            <a:ext cx="5394960" cy="73152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444752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2F6C"/>
                </a:solidFill>
              </a:rPr>
              <a:t>Fase 1 — Q3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0195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LinkedIn Ads + Email Marketing — 31 contas-alvo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212848"/>
            <a:ext cx="512064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33172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Tier 1: 8 contas — InMail + Sponsored + email 1:1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74320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Tier 2: 23 contas — Sponsored por vertical + email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15468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3 verticais: Agro, Energia/Indústria, Logística/Saúde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56616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SDR outreach coordenado com Tier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97764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Mensuração por conta — cobertura e pipeline ABM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074920"/>
            <a:ext cx="5120640" cy="54864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120640"/>
            <a:ext cx="4846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A800"/>
                </a:solidFill>
              </a:rPr>
              <a:t>Meta Q3: 2–3 reuniões Tier 1 | 1–2 OPPs | R$ 678k–1,3M pipeline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1371600"/>
            <a:ext cx="5394960" cy="466344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0" y="1371600"/>
            <a:ext cx="5394960" cy="73152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1444752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44444"/>
                </a:solidFill>
              </a:rPr>
              <a:t>Fase 2 — Após Q3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190195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Geração de demanda inbound — ativada com os aprendizados do Q3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37960" y="2212848"/>
            <a:ext cx="5120640" cy="45720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33172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Google Ads — RFC + SAC + Datasphere suporte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274320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LinkedIn orgânico — posts por ângulo de dor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315468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Blog / SEO — 2 artigos (RFC + quem sustenta SAC)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356616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Landing page inbound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397764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• ICP amplo — além das 31 contas ABM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37960" y="5074920"/>
            <a:ext cx="5120640" cy="54864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0" y="5120640"/>
            <a:ext cx="4846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FFFFF"/>
                </a:solidFill>
              </a:rPr>
              <a:t>Escalar o que performou no Q3 para um público mais amplo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91072"/>
            <a:ext cx="12188952" cy="1097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2F6C"/>
                </a:solidFill>
              </a:rPr>
              <a:t>Segmentação ABM — 31 Contas em 2 Tiers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1124712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3749039" cy="50749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3749039" cy="5029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00584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TIER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02412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1:1 Personalizado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50876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8 contas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920240"/>
            <a:ext cx="3474720" cy="457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011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Critério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226771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Maior porte e potencial
Mensagem por empresa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294436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Tática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" y="320040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InMail personalizado
+ Email sequência 1:1
+ Sponsored Content
+ SDR outreach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3886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Budget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" y="411480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392B"/>
                </a:solidFill>
              </a:rPr>
              <a:t>R$ 250/conta/mês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" y="4480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Exemplos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" y="4736592"/>
            <a:ext cx="3474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44444"/>
                </a:solidFill>
              </a:rPr>
              <a:t>Sírio-Libanês · Rede D'Or
Randon · Norte Energia
VLI · Arteris
Grupo Cimed · Grupo Jacto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25696" y="960120"/>
            <a:ext cx="3749039" cy="50749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425696" y="960120"/>
            <a:ext cx="3749039" cy="5029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35424" y="100584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2F6C"/>
                </a:solidFill>
              </a:rPr>
              <a:t>TIER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5936" y="102412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2F6C"/>
                </a:solidFill>
              </a:rPr>
              <a:t>1:Few por Vertical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5424" y="150876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2F6C"/>
                </a:solidFill>
              </a:rPr>
              <a:t>23 contas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35424" y="1920240"/>
            <a:ext cx="347472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35424" y="2011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Critério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35424" y="226771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3 verticais: Agro, Energia/Ind
Logística/Saúde
Mensagem por segmento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35424" y="294436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Tática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35424" y="320040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Sponsored Content A/B
+ Email sequência
por vertical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35424" y="3886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Budget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35424" y="411480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R$ 60/conta/mês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35424" y="4480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Exemplos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35424" y="4736592"/>
            <a:ext cx="3474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44444"/>
                </a:solidFill>
              </a:rPr>
              <a:t>Agro/Alimentos (10)
Energia/Indústria (8)
Logística/Saúde/Farma (5)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85632" y="960120"/>
            <a:ext cx="3749039" cy="50749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485632" y="960120"/>
            <a:ext cx="3749039" cy="50292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95360" y="100584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FASE 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05872" y="102412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Geração de Demanda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95360" y="150876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888888"/>
                </a:solidFill>
              </a:rPr>
              <a:t>ICP amplo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95360" y="1920240"/>
            <a:ext cx="3474720" cy="4572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95360" y="2011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Critério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95360" y="226771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Após Q3 — escalar
o que performou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95360" y="294436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Tática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5360" y="320040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Google Ads · Blog / SEO
LinkedIn orgânico
Landing page inbound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95360" y="3886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Budget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95360" y="411480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88888"/>
                </a:solidFill>
              </a:rPr>
              <a:t>Budget Q4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95360" y="4480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Exemplos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95360" y="4736592"/>
            <a:ext cx="3474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44444"/>
                </a:solidFill>
              </a:rPr>
              <a:t>RFC + SAC + Datasphere
Keywords de busca ativa
Conteúdo orgânico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91072"/>
            <a:ext cx="12188952" cy="1097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2F6C"/>
                </a:solidFill>
              </a:rPr>
              <a:t>Tier 1 — 8 Contas Estratégicas — Mensagem Personalizada por Empresa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1124712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11430000" cy="41148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058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A800"/>
                </a:solidFill>
              </a:rPr>
              <a:t>Empresa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10058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A800"/>
                </a:solidFill>
              </a:rPr>
              <a:t>Dor (VoC)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10058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A800"/>
                </a:solidFill>
              </a:rPr>
              <a:t>Ângulo da mensagem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100584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A800"/>
                </a:solidFill>
              </a:rPr>
              <a:t>Prioridade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389888"/>
            <a:ext cx="11430000" cy="54864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389888"/>
            <a:ext cx="54864" cy="54864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1499616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Hospital Sírio-Libanês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1499616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Saúde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7840" y="1499616"/>
            <a:ext cx="4389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Quem cuida do SAC depois da implantação?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149840" y="1481328"/>
            <a:ext cx="1645920" cy="347472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0" y="148132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Suporte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1965960"/>
            <a:ext cx="114300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1965960"/>
            <a:ext cx="54864" cy="54864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2075688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Rede D'Or São Luiz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2075688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Saúde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7840" y="2075688"/>
            <a:ext cx="4389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Sem parceiro técnico para evoluir o SAC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149840" y="2057400"/>
            <a:ext cx="1645920" cy="347472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149840" y="2057400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Suporte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542032"/>
            <a:ext cx="11430000" cy="54864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2542032"/>
            <a:ext cx="54864" cy="5486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" y="2651760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Empresas Randon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34640" y="2651760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Indústria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77840" y="2651760"/>
            <a:ext cx="4389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S4 pesado — cada query aparece na fatura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49840" y="2633472"/>
            <a:ext cx="1645920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49840" y="2633472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S4 Pesado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118103"/>
            <a:ext cx="114300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3118103"/>
            <a:ext cx="54864" cy="5486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488" y="3227832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Norte Energia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34640" y="3227832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Energia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77840" y="3227832"/>
            <a:ext cx="4389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RFC urgente — migração antes do bloqueio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149840" y="3209544"/>
            <a:ext cx="1645920" cy="34747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49840" y="3209544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RFC Urgente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3694176"/>
            <a:ext cx="11430000" cy="54864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5760" y="3694176"/>
            <a:ext cx="54864" cy="54864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8" y="3803904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VLI Logística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34640" y="3803904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Logística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77840" y="3803904"/>
            <a:ext cx="4389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SAC só como BI — planning esperando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149840" y="3785615"/>
            <a:ext cx="1645920" cy="347472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49840" y="3785615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Sem Parceiro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4270248"/>
            <a:ext cx="114300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65760" y="4270248"/>
            <a:ext cx="54864" cy="54864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5488" y="4379976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Arteris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34640" y="4379976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Infraestrutura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577840" y="4379976"/>
            <a:ext cx="4389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Sem parceiro técnico para o que vem depois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149840" y="4361688"/>
            <a:ext cx="1645920" cy="347472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149840" y="4361688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Sem Parceiro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4846320"/>
            <a:ext cx="11430000" cy="54864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65760" y="4846320"/>
            <a:ext cx="54864" cy="54864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5488" y="4956048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Grupo Cimed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34640" y="4956048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Farma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4956048"/>
            <a:ext cx="4389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SAC parado — licença paga, nada em uso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149840" y="4937759"/>
            <a:ext cx="1645920" cy="347472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149840" y="4937759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2F6C"/>
                </a:solidFill>
              </a:rPr>
              <a:t>SAC Parado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5760" y="5422392"/>
            <a:ext cx="1143000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65760" y="5422392"/>
            <a:ext cx="54864" cy="5486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75488" y="5532120"/>
            <a:ext cx="2286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Grupo Jacto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34640" y="5532120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Agro / Equipamentos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77840" y="5532120"/>
            <a:ext cx="4389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S4 pesado + SAC sem planning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149840" y="5513831"/>
            <a:ext cx="1645920" cy="3474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49840" y="5513831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S4 Pesado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6089903"/>
            <a:ext cx="11430000" cy="457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02920" y="6135624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2F6C"/>
                </a:solidFill>
              </a:rPr>
              <a:t>Tática Tier 1: InMail personalizado por empresa + SDR outreach dia 3-5 após ativação + Sponsored Content segmentado. Budget: R$ 250/conta/mês.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91072"/>
            <a:ext cx="12188952" cy="1097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2F6C"/>
                </a:solidFill>
              </a:rPr>
              <a:t>Tier 2 — Mensagens por Vertical (23 Contas) + Email por Segmento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1124712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3749039" cy="50749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960120"/>
            <a:ext cx="3749039" cy="73152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05156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2F6C"/>
                </a:solidFill>
              </a:rPr>
              <a:t>Agro /
Alimentos</a:t>
            </a:r>
          </a:p>
        </p:txBody>
      </p:sp>
      <p:sp>
        <p:nvSpPr>
          <p:cNvPr id="9" name="Rectangle 8"/>
          <p:cNvSpPr/>
          <p:nvPr/>
        </p:nvSpPr>
        <p:spPr>
          <a:xfrm>
            <a:off x="2834640" y="1051560"/>
            <a:ext cx="1188720" cy="384048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34640" y="1051560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10 contas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572768"/>
            <a:ext cx="3474720" cy="4572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1664208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Intro text LinkedIn: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192024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"Na safra, seu S4 não pode travar com relatórios. Cada query no transacional custa performance e aparece na fatura."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288036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Headline: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" y="3154680"/>
            <a:ext cx="3474720" cy="50292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20040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F6C"/>
                </a:solidFill>
              </a:rPr>
              <a:t>"Desafogue seu S4 antes da safra"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" y="3749039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Empresas: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" y="4005072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44444"/>
                </a:solidFill>
              </a:rPr>
              <a:t>Cocatrel · Usina São Manoel
VB Alimentos · TMG
BrasilAgro · Cotrijal
Jotabasso · Verde Campo
Alvoar · Cornélio Brennand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5696" y="960120"/>
            <a:ext cx="3749039" cy="50749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960120"/>
            <a:ext cx="3749039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35424" y="105156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2F6C"/>
                </a:solidFill>
              </a:rPr>
              <a:t>Energia /
Indústria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94576" y="1051560"/>
            <a:ext cx="1188720" cy="38404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94576" y="1051560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8 contas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35424" y="1572768"/>
            <a:ext cx="3474720" cy="457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35424" y="1664208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Intro text LinkedIn: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35424" y="192024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"A SAP vai bloquear suas extrações via RFC. Empresas com arquiteturas legadas estão em risco operacional real."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35424" y="288036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Headline: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35424" y="3154680"/>
            <a:ext cx="3474720" cy="5029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26864" y="320040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"Sua extração via RFC está em risco"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35424" y="3749039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Empresas: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35424" y="4005072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44444"/>
                </a:solidFill>
              </a:rPr>
              <a:t>Aliança Energia · Petronas
Argo Energia · Farmax
Brametal · Morlan
Cimentos Liz · FCC Química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85632" y="960120"/>
            <a:ext cx="3749039" cy="50749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485632" y="960120"/>
            <a:ext cx="3749039" cy="73152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60" y="105156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2F6C"/>
                </a:solidFill>
              </a:rPr>
              <a:t>Logística /
Saúde / Farma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954512" y="1051560"/>
            <a:ext cx="1188720" cy="38404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54512" y="1051560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5 contas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595360" y="1572768"/>
            <a:ext cx="3474720" cy="4572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95360" y="1664208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Intro text LinkedIn: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95360" y="192024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"O time de consultoria foi embora depois da implantação. Quem cuida do seu ambiente SAC agora?"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95360" y="288036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Headline: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595360" y="3154680"/>
            <a:ext cx="3474720" cy="50292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86800" y="320040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"Sem parceiro técnico para o SAC?"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5360" y="3749039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F6C"/>
                </a:solidFill>
              </a:rPr>
              <a:t>Empresas: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95360" y="4005072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44444"/>
                </a:solidFill>
              </a:rPr>
              <a:t>BBM Logística · Ferroeste
DELP Engenharia
Althaia · Laboratório Teuto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91072"/>
            <a:ext cx="12188952" cy="1097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2F6C"/>
                </a:solidFill>
              </a:rPr>
              <a:t>Orquestração Marketing + Vendas — ABM Tier 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1124712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44444"/>
                </a:solidFill>
              </a:rPr>
              <a:t>ABM funciona quando marketing e vendas estão sincronizados por conta.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11430000" cy="621792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1234440" cy="621792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463039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Dia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463039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Conta entra na audiência LinkedIn — campanha ativa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0" y="1417320"/>
            <a:ext cx="2057400" cy="402336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0" y="1417320"/>
            <a:ext cx="2057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Marketing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993391"/>
            <a:ext cx="1143000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1993391"/>
            <a:ext cx="1234440" cy="621792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130551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Dia 3–5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2130551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SDR faz outreach personalizado com ângulo da dor (VoC)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01200" y="2084831"/>
            <a:ext cx="2057400" cy="402336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0" y="2084831"/>
            <a:ext cx="2057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Vendas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660903"/>
            <a:ext cx="11430000" cy="621792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2660903"/>
            <a:ext cx="1234440" cy="621792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798063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Sem 1–4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2798063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Conta vê anúncio 3–5x por semana (Sponsored + InMail)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1200" y="2752344"/>
            <a:ext cx="2057400" cy="402336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0" y="2752344"/>
            <a:ext cx="2057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Marketing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328415"/>
            <a:ext cx="1143000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3328415"/>
            <a:ext cx="1234440" cy="621792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3465575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Contínuo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91640" y="3465575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Engajamento detectado (clique / visita) → alerta no HubSpot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01200" y="3419856"/>
            <a:ext cx="2057400" cy="402336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0" y="3419856"/>
            <a:ext cx="2057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Marketing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995927"/>
            <a:ext cx="11430000" cy="621792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3995927"/>
            <a:ext cx="1234440" cy="621792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4133087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&lt; 24h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91640" y="4133087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Follow-up de vendas imediato após sinal de engajamento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0" y="4087367"/>
            <a:ext cx="2057400" cy="402336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0" y="4087367"/>
            <a:ext cx="2057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Vendas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663440"/>
            <a:ext cx="1143000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65760" y="4663440"/>
            <a:ext cx="1234440" cy="621792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" y="4800600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30 dias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91640" y="4800600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Revisão de contas frias — trocar ângulo ou pausar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01200" y="4754879"/>
            <a:ext cx="2057400" cy="402336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01200" y="4754879"/>
            <a:ext cx="2057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2F6C"/>
                </a:solidFill>
              </a:rPr>
              <a:t>Mkt + Vdas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589788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Sinais de engajamento a monitorar: clique em anúncio ABM · visita à landing page · abertura de InMail · download de material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91072"/>
            <a:ext cx="12188952" cy="1097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2F6C"/>
                </a:solidFill>
              </a:rPr>
              <a:t>Metas Q3 2026 — Campanha Integrada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1124712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2F6C"/>
                </a:solidFill>
              </a:rPr>
              <a:t>Geração de Demanda (inbound)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53312"/>
            <a:ext cx="548640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5486400" cy="438912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50876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Leads gerados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1508760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02F6C"/>
                </a:solidFill>
              </a:rPr>
              <a:t>8–12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874519"/>
            <a:ext cx="548640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96596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MQLs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1965960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02F6C"/>
                </a:solidFill>
              </a:rPr>
              <a:t>4–7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5486400" cy="438912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42316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Reuniões agendadas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2423160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02F6C"/>
                </a:solidFill>
              </a:rPr>
              <a:t>2–4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788920"/>
            <a:ext cx="548640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88036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Oportunidades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2880360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02F6C"/>
                </a:solidFill>
              </a:rPr>
              <a:t>1–2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246120"/>
            <a:ext cx="5486400" cy="438912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333756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Pipeline inbound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3337560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02F6C"/>
                </a:solidFill>
              </a:rPr>
              <a:t>R$ 678k–1,3M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9601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2F6C"/>
                </a:solidFill>
              </a:rPr>
              <a:t>ABM (por conta)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0" y="1353312"/>
            <a:ext cx="5212080" cy="4572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3680" y="1417320"/>
            <a:ext cx="5212080" cy="438912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0840" y="150876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Cobertura de conta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60" y="1508760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A7A4A"/>
                </a:solidFill>
              </a:rPr>
              <a:t>&gt; 70% das 156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0" y="1874519"/>
            <a:ext cx="52120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0840" y="196596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Reuniões Tier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60" y="1965960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A7A4A"/>
                </a:solidFill>
              </a:rPr>
              <a:t>2–3 de 7 contas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0" y="2331720"/>
            <a:ext cx="5212080" cy="438912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20840" y="242316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Contas Tier 2 engajadas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0" y="2423160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A7A4A"/>
                </a:solidFill>
              </a:rPr>
              <a:t>&gt; 30%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0" y="2788920"/>
            <a:ext cx="52120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20840" y="288036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Oportunidades ABM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60" y="2880360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A7A4A"/>
                </a:solidFill>
              </a:rPr>
              <a:t>1–2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0" y="3246120"/>
            <a:ext cx="5212080" cy="438912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20840" y="333756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Pipeline ABM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66960" y="3337560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A7A4A"/>
                </a:solidFill>
              </a:rPr>
              <a:t>R$ 678k–2M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3840480"/>
            <a:ext cx="11338560" cy="96012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391363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800"/>
                </a:solidFill>
              </a:rPr>
              <a:t>Total consolidado Q3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391363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Oportunidades abertas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0" y="425196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A800"/>
                </a:solidFill>
              </a:rPr>
              <a:t>2–4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61120" y="391363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Pipeline gerado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61120" y="425196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A800"/>
                </a:solidFill>
              </a:rPr>
              <a:t>R$ 1,3M–3,3M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4892040"/>
            <a:ext cx="11338560" cy="50292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" y="495604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2F6C"/>
                </a:solidFill>
              </a:rPr>
              <a:t>Racional: ticket médio R$ 678k — 1 deal fechado paga a campanha inteira. O objetivo do Q3 é criar o primeiro ciclo digital + ABM estruturado e escalar no Q4.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4864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2F6C"/>
                </a:solidFill>
              </a:rPr>
              <a:t>KPIs ABM — medir por conta, não só por lead: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580644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Cobertura · Engajamento por empresa · Velocidade de pipeline · Win rate ABM vs geral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91072"/>
            <a:ext cx="12188952" cy="1097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2F6C"/>
                </a:solidFill>
              </a:rPr>
              <a:t>Budget — Q3 2026 (Fase 1: Ads + Email)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1124712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54864" cy="4572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106424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LinkedIn Ads — Tier 1 (8 × R$250 × 3 meses)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1106424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02F6C"/>
                </a:solidFill>
              </a:rPr>
              <a:t>R$ 6.000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499616"/>
            <a:ext cx="112471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499616"/>
            <a:ext cx="54864" cy="45720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600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LinkedIn Ads — Tier 2 (23 × R$60 × 3 meses)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0" y="1600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02F6C"/>
                </a:solidFill>
              </a:rPr>
              <a:t>R$ 4.140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993392"/>
            <a:ext cx="11247120" cy="457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1993392"/>
            <a:ext cx="54864" cy="4572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2093976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Produção de peças (banners, InMails, emails)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2093976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02F6C"/>
                </a:solidFill>
              </a:rPr>
              <a:t>R$ 1.500–2.000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487168"/>
            <a:ext cx="11247120" cy="530352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5877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TOTAL Q3 — FASE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58775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5A800"/>
                </a:solidFill>
              </a:rPr>
              <a:t>R$ 11.640–12.140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054096"/>
            <a:ext cx="11247120" cy="4572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054096"/>
            <a:ext cx="54864" cy="4572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1546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Fase 2 — Google Ads + Blog + Orgânico (Q4)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0" y="3154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02F6C"/>
                </a:solidFill>
              </a:rPr>
              <a:t>A definir após Q3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639312"/>
            <a:ext cx="11247120" cy="6858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368503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2F6C"/>
                </a:solidFill>
              </a:rPr>
              <a:t>Google Ads atual: CPC R$ 2,48 · CTR 4,97% — menor custo, maior previsibilidade. Escalar primeiro.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39593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2F6C"/>
                </a:solidFill>
              </a:rPr>
              <a:t>ABM concentra budget onde já há relação. Menor risco, maior taxa de conversão esperada.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91072"/>
            <a:ext cx="12188952" cy="109728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2F6C"/>
                </a:solidFill>
              </a:rPr>
              <a:t>Cronograma Integrado — Q3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1124712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960120"/>
            <a:ext cx="2286000" cy="54864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9601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Pré
até 04/07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508760"/>
            <a:ext cx="2286000" cy="45720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79" y="157276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Exportar 156 contas → CSV → upload LinkedIn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2093976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Criar audiências Matched (Tier 1, 2, 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2615184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Criar InMails Tier 1 personalizados (7)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3136391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Criar emails demand gen + landing page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3657599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Briefar SDR/vendas — Tier 1 playbook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97480" y="960120"/>
            <a:ext cx="2286000" cy="54864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97480" y="9601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Jul
S1-S2
07–18/07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97480" y="1508760"/>
            <a:ext cx="2286000" cy="45720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88920" y="157276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Reativar 95 warm leads (WhatsApp + email RFC)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2093976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Ativar LinkedIn Ads Tier 1 — SDR outreach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2615184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Ativar Tier 2 Agro + Energia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88920" y="3136391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LinkedIn Ads demand gen + Google Ads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88920" y="3657599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Posts LinkedIn ângulo SAC parado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74920" y="960120"/>
            <a:ext cx="2286000" cy="54864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4920" y="9601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Jul
S3-S4
21–31/07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74920" y="1508760"/>
            <a:ext cx="2286000" cy="45720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66360" y="157276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Email RFC sequência — demand 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66360" y="2093976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Ativar Tier 2 Indústria + Tier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66360" y="2615184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Artigo blog: RFC bloqueado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66360" y="3136391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Revisar cobertura de conta ABM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66360" y="3657599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Posts ângulo sem parceiro técnico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52360" y="960120"/>
            <a:ext cx="2286000" cy="54864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52360" y="9601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Ago
S5-S8
04–29/08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452360" y="1508760"/>
            <a:ext cx="2286000" cy="45720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43800" y="157276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Email S4 sobrecarregado + SAC como BI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43800" y="2093976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Revisão Tier 1: quem engajou?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43800" y="2615184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Trocar variante menos performática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43800" y="3136391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Artigo: quem sustenta seu SAC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43800" y="3657599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Revisão mid-campaign completa (25/08)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829800" y="960120"/>
            <a:ext cx="2286000" cy="54864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29800" y="9601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Set
S9-S12
01–30/09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29800" y="1508760"/>
            <a:ext cx="2286000" cy="4572000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21240" y="157276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Acelerar canal líder (definir em 25/08)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21240" y="2093976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Reativar leads não convertidos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1240" y="2615184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Qualificação comercial — contas engajadas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21240" y="3136391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Relatório Q3 + aprendizados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21240" y="3657599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• Planejamento Q4 com base nos dados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2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91072"/>
            <a:ext cx="12188952" cy="56692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5603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Próximos Passos — Esta Semana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896112"/>
            <a:ext cx="10698480" cy="45720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005840"/>
            <a:ext cx="502920" cy="47548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005840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097280"/>
            <a:ext cx="8961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Reativar 95 warm leads via WhatsApp — ângulo RFC urgente — custo zero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78440" y="109728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5A800"/>
                </a:solidFill>
              </a:rPr>
              <a:t>Agora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1554480"/>
            <a:ext cx="502920" cy="47548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554480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2F6C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1645920"/>
            <a:ext cx="8961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Upload lista-contas-abm.csv (39 empresas) no LinkedIn Campaign Manager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78440" y="164592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5A800"/>
                </a:solidFill>
              </a:rPr>
              <a:t>Até 01/07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103120"/>
            <a:ext cx="502920" cy="47548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103120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2F6C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2194560"/>
            <a:ext cx="8961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Criar 5 audiências Matched (T1, T2 Agro, T2 Energia/Ind, T2 Log/Saúde, T3)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78440" y="219456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5A800"/>
                </a:solidFill>
              </a:rPr>
              <a:t>Até 01/07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2651760"/>
            <a:ext cx="502920" cy="47548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2651760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2F6C"/>
                </a:solidFill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2743200"/>
            <a:ext cx="8961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Criar InMails personalizados para 8 contas Tier 1 (dor por empresa)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78440" y="274320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5A800"/>
                </a:solidFill>
              </a:rPr>
              <a:t>Até 04/07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3200400"/>
            <a:ext cx="502920" cy="47548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200400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2F6C"/>
                </a:solidFill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25880" y="3291840"/>
            <a:ext cx="8961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Briefar SDR/vendas: conta, dor identificada no VoC, ângulo, timing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78440" y="329184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5A800"/>
                </a:solidFill>
              </a:rPr>
              <a:t>Até 04/07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3749040"/>
            <a:ext cx="502920" cy="475488"/>
          </a:xfrm>
          <a:prstGeom prst="rect">
            <a:avLst/>
          </a:prstGeom>
          <a:solidFill>
            <a:srgbClr val="F5A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749040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2F6C"/>
                </a:solidFill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3840480"/>
            <a:ext cx="8961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Criar emails demand gen + landing page guarda-chuva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78440" y="384048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5A800"/>
                </a:solidFill>
              </a:rPr>
              <a:t>Até 04/07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4297680"/>
            <a:ext cx="502920" cy="475488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297680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25880" y="4389120"/>
            <a:ext cx="8961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Ativar LinkedIn Ads Tier 1 + Google Ads na semana 1 de julho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78440" y="438912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5A800"/>
                </a:solidFill>
              </a:rPr>
              <a:t>07/07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4846320"/>
            <a:ext cx="502920" cy="475488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4846320"/>
            <a:ext cx="5029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25880" y="4937759"/>
            <a:ext cx="8961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Primeira revisão de cobertura ABM e engajamento Tier 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78440" y="4937759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5A800"/>
                </a:solidFill>
              </a:rPr>
              <a:t>25/07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6364224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2F6C"/>
                </a:solidFill>
              </a:rPr>
              <a:t>solveplan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