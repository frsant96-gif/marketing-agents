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91072"/>
            <a:ext cx="12188952" cy="566928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943600" y="109728"/>
            <a:ext cx="45720" cy="6181344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97280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Campanha Integrada — Q3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4592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Fábrica de
Analytics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06324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5A800"/>
                </a:solidFill>
              </a:rPr>
              <a:t>Geração de Demanda + ABM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0332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BBBBBB"/>
                </a:solidFill>
              </a:rPr>
              <a:t>"A implantação do SAP foi só o começo.
Quem cuida do que vem depois?"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6634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8888"/>
                </a:solidFill>
              </a:rPr>
              <a:t>Julho · Agosto · Setembro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0" y="1280160"/>
            <a:ext cx="5120640" cy="868680"/>
          </a:xfrm>
          <a:prstGeom prst="rect">
            <a:avLst/>
          </a:prstGeom>
          <a:solidFill>
            <a:srgbClr val="002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0" y="1325880"/>
            <a:ext cx="1371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5A800"/>
                </a:solidFill>
              </a:rPr>
              <a:t>156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0" y="1481328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empresas mapeadas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0" y="2286000"/>
            <a:ext cx="5120640" cy="868680"/>
          </a:xfrm>
          <a:prstGeom prst="rect">
            <a:avLst/>
          </a:prstGeom>
          <a:solidFill>
            <a:srgbClr val="002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2331720"/>
            <a:ext cx="1371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5A800"/>
                </a:solidFill>
              </a:rPr>
              <a:t>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0" y="2487168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contas Tier 1 (VoC)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0" y="3291840"/>
            <a:ext cx="5120640" cy="868680"/>
          </a:xfrm>
          <a:prstGeom prst="rect">
            <a:avLst/>
          </a:prstGeom>
          <a:solidFill>
            <a:srgbClr val="002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0" y="3337560"/>
            <a:ext cx="1371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5A800"/>
                </a:solidFill>
              </a:rPr>
              <a:t>95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3493008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warm leads para reativar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0" y="4297680"/>
            <a:ext cx="5120640" cy="868680"/>
          </a:xfrm>
          <a:prstGeom prst="rect">
            <a:avLst/>
          </a:prstGeom>
          <a:solidFill>
            <a:srgbClr val="002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75120" y="4343400"/>
            <a:ext cx="1371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5A800"/>
                </a:solidFill>
              </a:rPr>
              <a:t>2+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60" y="4498848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oportunidades esperadas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6364224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2F6C"/>
                </a:solidFill>
              </a:rPr>
              <a:t>solveplan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91072"/>
            <a:ext cx="12188952" cy="109728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02F6C"/>
                </a:solidFill>
              </a:rPr>
              <a:t>Dois Movimentos Simultâneos — Mesma Mensagem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77240"/>
            <a:ext cx="11247120" cy="45720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1">
                <a:solidFill>
                  <a:srgbClr val="002F6C"/>
                </a:solidFill>
              </a:rPr>
              <a:t>"A implantação do SAP foi só o começo. Quem cuida do que vem depois?"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71600"/>
            <a:ext cx="5394960" cy="466344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371600"/>
            <a:ext cx="5394960" cy="73152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444752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2F6C"/>
                </a:solidFill>
              </a:rPr>
              <a:t>Geração de Demanda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90195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44444"/>
                </a:solidFill>
              </a:rPr>
              <a:t>Para quem ainda não nos conhece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212848"/>
            <a:ext cx="5120640" cy="45720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331720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• Email marketing — 95 warm leads (reativação imediata)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743200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• LinkedIn Ads — ICP geral (fora da lista ABM)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154680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• Google Ads — keywords RFC + SAC + Datasphere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3566160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• LinkedIn orgânico — 4-5 posts/mês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3977640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• Blog — 2 artigos SEO (RFC + quem sustenta SAC)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5074920"/>
            <a:ext cx="5120640" cy="548640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5120640"/>
            <a:ext cx="48463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5A800"/>
                </a:solidFill>
              </a:rPr>
              <a:t>Meta: 8–12 leads | 2–4 reuniões | R$ 678k–1,3M pipeline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1371600"/>
            <a:ext cx="5394960" cy="466344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0" y="1371600"/>
            <a:ext cx="5394960" cy="73152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37960" y="1444752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2F6C"/>
                </a:solidFill>
              </a:rPr>
              <a:t>Account-Based Marketing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60" y="190195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44444"/>
                </a:solidFill>
              </a:rPr>
              <a:t>Para quem já foi impactado nos eventos H1 2026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37960" y="2212848"/>
            <a:ext cx="5120640" cy="45720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2331720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• Tier 1: 7 contas VoC — InMail personalizado + SDR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60" y="2743200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• Tier 2: ~50 contas por vertical (Agro, Energia, Indústria)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37960" y="3154680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• Tier 3: ~99 contas — matched audience LinkedIn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37960" y="3566160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• Orquestração com vendas — alerta de engajamento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37960" y="3977640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• Mensuração por conta — cobertura e pipeline ABM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37960" y="5074920"/>
            <a:ext cx="5120640" cy="548640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75120" y="5120640"/>
            <a:ext cx="48463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Meta: 2–3 reuniões Tier 1 | 1–2 OPPs ABM | R$ 678k–2M pipeline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91072"/>
            <a:ext cx="12188952" cy="109728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02F6C"/>
                </a:solidFill>
              </a:rPr>
              <a:t>Segmentação ABM — 156 Empresas em 3 Tiers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44444"/>
                </a:solidFill>
              </a:rPr>
              <a:t>Base: eventos SAP BTP Experience + IT Summit Agro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68680"/>
            <a:ext cx="11247120" cy="45720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960120"/>
            <a:ext cx="3749039" cy="507492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960120"/>
            <a:ext cx="3749039" cy="50292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1005840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TIER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102412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1:1 Personalizado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508760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C0392B"/>
                </a:solidFill>
              </a:rPr>
              <a:t>7 contas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5488" y="1920240"/>
            <a:ext cx="3474720" cy="4572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" y="20116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2F6C"/>
                </a:solidFill>
              </a:rPr>
              <a:t>Critério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" y="2267712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Contas do VoC com dor
explícita identificada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" y="294436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2F6C"/>
                </a:solidFill>
              </a:rPr>
              <a:t>Tática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" y="320040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InMail personalizado
+ SDR outreach
+ Sponsored Content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" y="38862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2F6C"/>
                </a:solidFill>
              </a:rPr>
              <a:t>Budget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" y="411480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0392B"/>
                </a:solidFill>
              </a:rPr>
              <a:t>R$ 250/conta/mês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" y="4480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2F6C"/>
                </a:solidFill>
              </a:rPr>
              <a:t>Exemplos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" y="4736592"/>
            <a:ext cx="3474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444444"/>
                </a:solidFill>
              </a:rPr>
              <a:t>COMIGO · Geoavia · Tuberfil
Grupo Soufer · Docol
Algar · BTG Pactual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25696" y="960120"/>
            <a:ext cx="3749039" cy="507492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25696" y="960120"/>
            <a:ext cx="3749039" cy="502920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35424" y="1005840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2F6C"/>
                </a:solidFill>
              </a:rPr>
              <a:t>TIER 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45936" y="102412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2F6C"/>
                </a:solidFill>
              </a:rPr>
              <a:t>1:Few por Vertical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35424" y="1508760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02F6C"/>
                </a:solidFill>
              </a:rPr>
              <a:t>~50 contas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35424" y="1920240"/>
            <a:ext cx="3474720" cy="45720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35424" y="20116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2F6C"/>
                </a:solidFill>
              </a:rPr>
              <a:t>Critério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35424" y="2267712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Líderes de TI/Dados dos
eventos — agrupados por setor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35424" y="294436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2F6C"/>
                </a:solidFill>
              </a:rPr>
              <a:t>Tática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35424" y="320040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Sponsored Content A/B
por vertical
+ SDR reforçado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35424" y="38862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2F6C"/>
                </a:solidFill>
              </a:rPr>
              <a:t>Budget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35424" y="411480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2F6C"/>
                </a:solidFill>
              </a:rPr>
              <a:t>R$ 60/conta/mês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35424" y="4480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2F6C"/>
                </a:solidFill>
              </a:rPr>
              <a:t>Exemplos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35424" y="4736592"/>
            <a:ext cx="3474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444444"/>
                </a:solidFill>
              </a:rPr>
              <a:t>Agro/Bioenergia · Energia/Utilities
Indústria/Manufatura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485632" y="960120"/>
            <a:ext cx="3749039" cy="507492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485632" y="960120"/>
            <a:ext cx="3749039" cy="502920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95360" y="1005840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TIER 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102412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1:Many ICP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95360" y="1508760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02F6C"/>
                </a:solidFill>
              </a:rPr>
              <a:t>~99 contas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595360" y="1920240"/>
            <a:ext cx="3474720" cy="45720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595360" y="20116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2F6C"/>
                </a:solidFill>
              </a:rPr>
              <a:t>Critério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95360" y="2267712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Demais empresas dos eventos
com perfil SAP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95360" y="294436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2F6C"/>
                </a:solidFill>
              </a:rPr>
              <a:t>Tática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95360" y="320040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Matched Audience LinkedIn
Mensagem guarda-chuva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95360" y="38862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2F6C"/>
                </a:solidFill>
              </a:rPr>
              <a:t>Budget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595360" y="411480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2F6C"/>
                </a:solidFill>
              </a:rPr>
              <a:t>R$ 12/conta/mês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95360" y="4480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2F6C"/>
                </a:solidFill>
              </a:rPr>
              <a:t>Exemplos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95360" y="4736592"/>
            <a:ext cx="3474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444444"/>
                </a:solidFill>
              </a:rPr>
              <a:t>Vale · B3 · LATAM · GOL
Gerdau · Braskem
e outras 93 empresas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91072"/>
            <a:ext cx="12188952" cy="109728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02F6C"/>
                </a:solidFill>
              </a:rPr>
              <a:t>Tier 1 — 7 Contas Estratégicas (Dores Identificadas no VoC)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77240"/>
            <a:ext cx="11247120" cy="45720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960120"/>
            <a:ext cx="11430000" cy="411480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0058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5A800"/>
                </a:solidFill>
              </a:rPr>
              <a:t>Empresa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34640" y="100584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5A800"/>
                </a:solidFill>
              </a:rPr>
              <a:t>Dor (VoC)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7840" y="100584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5A800"/>
                </a:solidFill>
              </a:rPr>
              <a:t>Ângulo da mensagem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40" y="100584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5A800"/>
                </a:solidFill>
              </a:rPr>
              <a:t>Prioridade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389888"/>
            <a:ext cx="11430000" cy="54864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" y="1389888"/>
            <a:ext cx="54864" cy="54864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" y="1499616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2F6C"/>
                </a:solidFill>
              </a:rPr>
              <a:t>COMIGO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34640" y="1499616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RFC + S4 pesado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77840" y="1499616"/>
            <a:ext cx="4389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44444"/>
                </a:solidFill>
              </a:rPr>
              <a:t>RFC urgente — a fábrica pode parar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149840" y="1481328"/>
            <a:ext cx="1645920" cy="34747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149840" y="1481328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RFC Urgente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1965960"/>
            <a:ext cx="1143000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1965960"/>
            <a:ext cx="54864" cy="54864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" y="2075688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2F6C"/>
                </a:solidFill>
              </a:rPr>
              <a:t>Geoavia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34640" y="2075688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RFC em risco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77840" y="2075688"/>
            <a:ext cx="4389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44444"/>
                </a:solidFill>
              </a:rPr>
              <a:t>RFC urgente — migração antes do bloqueio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149840" y="2057400"/>
            <a:ext cx="1645920" cy="34747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149840" y="2057400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RFC Urgente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542032"/>
            <a:ext cx="11430000" cy="54864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5760" y="2542032"/>
            <a:ext cx="54864" cy="548640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5488" y="2651760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2F6C"/>
                </a:solidFill>
              </a:rPr>
              <a:t>Tuberfil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34640" y="2651760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SAC + RFC + suporte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77840" y="2651760"/>
            <a:ext cx="4389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44444"/>
                </a:solidFill>
              </a:rPr>
              <a:t>Sem parceiro — quem sustenta o ambiente?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149840" y="2633472"/>
            <a:ext cx="1645920" cy="347472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149840" y="2633472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Sem Parceiro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3118103"/>
            <a:ext cx="1143000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65760" y="3118103"/>
            <a:ext cx="54864" cy="548640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5488" y="3227832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2F6C"/>
                </a:solidFill>
              </a:rPr>
              <a:t>Grupo Soufer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834640" y="3227832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SAC parado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577840" y="3227832"/>
            <a:ext cx="4389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44444"/>
                </a:solidFill>
              </a:rPr>
              <a:t>SAC parado — licença paga, nada em uso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149840" y="3209544"/>
            <a:ext cx="1645920" cy="347472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149840" y="3209544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02F6C"/>
                </a:solidFill>
              </a:rPr>
              <a:t>SAC Parado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" y="3694176"/>
            <a:ext cx="11430000" cy="54864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65760" y="3694176"/>
            <a:ext cx="54864" cy="548640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5488" y="3803904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2F6C"/>
                </a:solidFill>
              </a:rPr>
              <a:t>Docol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834640" y="3803904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SAC parado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577840" y="3803904"/>
            <a:ext cx="4389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44444"/>
                </a:solidFill>
              </a:rPr>
              <a:t>SAC parado — licença paga, nada em uso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149840" y="3785615"/>
            <a:ext cx="1645920" cy="347472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149840" y="3785615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02F6C"/>
                </a:solidFill>
              </a:rPr>
              <a:t>SAC Parado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5760" y="4270248"/>
            <a:ext cx="1143000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65760" y="4270248"/>
            <a:ext cx="54864" cy="548640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75488" y="4379976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2F6C"/>
                </a:solidFill>
              </a:rPr>
              <a:t>Algar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834640" y="4379976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SAC parado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577840" y="4379976"/>
            <a:ext cx="4389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44444"/>
                </a:solidFill>
              </a:rPr>
              <a:t>SAC parado + evolução para planning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0149840" y="4361688"/>
            <a:ext cx="1645920" cy="347472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149840" y="4361688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Suporte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65760" y="4846320"/>
            <a:ext cx="11430000" cy="54864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65760" y="4846320"/>
            <a:ext cx="54864" cy="54864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75488" y="4956048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2F6C"/>
                </a:solidFill>
              </a:rPr>
              <a:t>BTG Pactual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834640" y="4956048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S4 sobrecarregado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4956048"/>
            <a:ext cx="4389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44444"/>
                </a:solidFill>
              </a:rPr>
              <a:t>S4 pesado — cada query aparece na fatura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0149840" y="4937759"/>
            <a:ext cx="1645920" cy="347472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149840" y="4937759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S4 Pesado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65760" y="5513831"/>
            <a:ext cx="11430000" cy="45720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02920" y="5559552"/>
            <a:ext cx="11155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002F6C"/>
                </a:solidFill>
              </a:rPr>
              <a:t>Tática Tier 1: InMail personalizado por empresa + SDR outreach dia 3-5 após ativação + Sponsored Content segmentado. Budget: R$ 250/conta/mês.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91072"/>
            <a:ext cx="12188952" cy="109728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02F6C"/>
                </a:solidFill>
              </a:rPr>
              <a:t>Tier 2 — Mensagens por Vertical (50 Contas)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77240"/>
            <a:ext cx="11247120" cy="45720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960120"/>
            <a:ext cx="3749039" cy="507492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960120"/>
            <a:ext cx="3749039" cy="73152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05156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2F6C"/>
                </a:solidFill>
              </a:rPr>
              <a:t>Agro /
Bioenergia</a:t>
            </a:r>
          </a:p>
        </p:txBody>
      </p:sp>
      <p:sp>
        <p:nvSpPr>
          <p:cNvPr id="9" name="Rectangle 8"/>
          <p:cNvSpPr/>
          <p:nvPr/>
        </p:nvSpPr>
        <p:spPr>
          <a:xfrm>
            <a:off x="2834640" y="1051560"/>
            <a:ext cx="1188720" cy="384048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34640" y="1051560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25 contas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572768"/>
            <a:ext cx="3474720" cy="45720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1664208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2F6C"/>
                </a:solidFill>
              </a:rPr>
              <a:t>Intro text LinkedIn: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" y="1920240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44444"/>
                </a:solidFill>
              </a:rPr>
              <a:t>"Na safra, seu S4 não pode travar. Cada relatório no transacional custa performance."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" y="2880360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2F6C"/>
                </a:solidFill>
              </a:rPr>
              <a:t>Headline: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5488" y="3154680"/>
            <a:ext cx="3474720" cy="502920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20040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2F6C"/>
                </a:solidFill>
              </a:rPr>
              <a:t>"Desafogue seu S4 antes da safra"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" y="3749039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2F6C"/>
                </a:solidFill>
              </a:rPr>
              <a:t>Empresas: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" y="4005072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444444"/>
                </a:solidFill>
              </a:rPr>
              <a:t>Atvos, São Martinho, Citrosuco, CTC, Coopercitrus, Copercana, Usina Coruripe, Tereos + 17 outras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25696" y="960120"/>
            <a:ext cx="3749039" cy="507492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25696" y="960120"/>
            <a:ext cx="3749039" cy="73152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35424" y="105156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2F6C"/>
                </a:solidFill>
              </a:rPr>
              <a:t>Energia /
Utilities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94576" y="1051560"/>
            <a:ext cx="1188720" cy="384048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94576" y="1051560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12 contas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35424" y="1572768"/>
            <a:ext cx="3474720" cy="45720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35424" y="1664208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2F6C"/>
                </a:solidFill>
              </a:rPr>
              <a:t>Intro text LinkedIn: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35424" y="1920240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44444"/>
                </a:solidFill>
              </a:rPr>
              <a:t>"A SAP vai bloquear extrações via RFC. Empresas de energia com arquiteturas legadas estão em alerta."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35424" y="2880360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2F6C"/>
                </a:solidFill>
              </a:rPr>
              <a:t>Headline: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35424" y="3154680"/>
            <a:ext cx="3474720" cy="502920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26864" y="320040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"Sua extração via RFC está em risco"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35424" y="3749039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2F6C"/>
                </a:solidFill>
              </a:rPr>
              <a:t>Empresas: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35424" y="4005072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444444"/>
                </a:solidFill>
              </a:rPr>
              <a:t>Cemig, CPFL, Eletrobras, Samarco, Petrobras, BRK Ambiental, Nexa Resources + 5 outras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485632" y="960120"/>
            <a:ext cx="3749039" cy="507492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485632" y="960120"/>
            <a:ext cx="3749039" cy="73152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595360" y="105156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2F6C"/>
                </a:solidFill>
              </a:rPr>
              <a:t>Indústria /
Manufatura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954512" y="1051560"/>
            <a:ext cx="1188720" cy="384048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954512" y="1051560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13 contas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595360" y="1572768"/>
            <a:ext cx="3474720" cy="4572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595360" y="1664208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2F6C"/>
                </a:solidFill>
              </a:rPr>
              <a:t>Intro text LinkedIn: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95360" y="1920240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44444"/>
                </a:solidFill>
              </a:rPr>
              <a:t>"O time de consultoria foi embora depois da implantação. Quem evolui seu SAC agora?"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95360" y="2880360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2F6C"/>
                </a:solidFill>
              </a:rPr>
              <a:t>Headline: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595360" y="3154680"/>
            <a:ext cx="3474720" cy="50292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320040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2F6C"/>
                </a:solidFill>
              </a:rPr>
              <a:t>"Sem parceiro técnico para o SAC?"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95360" y="3749039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2F6C"/>
                </a:solidFill>
              </a:rPr>
              <a:t>Empresas: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95360" y="4005072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444444"/>
                </a:solidFill>
              </a:rPr>
              <a:t>Gerdau, Braskem, Embraer, Tupy, WEG, Tramontina, Klabin, Arauco, M. Dias Branco + 4 outras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91072"/>
            <a:ext cx="12188952" cy="109728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02F6C"/>
                </a:solidFill>
              </a:rPr>
              <a:t>Orquestração Marketing + Vendas — ABM Tier 1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77240"/>
            <a:ext cx="11247120" cy="45720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444444"/>
                </a:solidFill>
              </a:rPr>
              <a:t>ABM funciona quando marketing e vendas estão sincronizados por conta.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11430000" cy="621792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325880"/>
            <a:ext cx="1234440" cy="621792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463039"/>
            <a:ext cx="1234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Dia 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1463039"/>
            <a:ext cx="7772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Conta entra na audiência LinkedIn — campanha ativa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01200" y="1417320"/>
            <a:ext cx="2057400" cy="402336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0" y="1417320"/>
            <a:ext cx="20574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Marketing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1993391"/>
            <a:ext cx="1143000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5760" y="1993391"/>
            <a:ext cx="1234440" cy="621792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2130551"/>
            <a:ext cx="1234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Dia 3–5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2130551"/>
            <a:ext cx="7772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SDR faz outreach personalizado com ângulo da dor (VoC)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601200" y="2084831"/>
            <a:ext cx="2057400" cy="402336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0" y="2084831"/>
            <a:ext cx="20574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Vendas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2660903"/>
            <a:ext cx="11430000" cy="621792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5760" y="2660903"/>
            <a:ext cx="1234440" cy="621792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798063"/>
            <a:ext cx="1234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Sem 1–4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91640" y="2798063"/>
            <a:ext cx="7772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Conta vê anúncio 3–5x por semana (Sponsored + InMail)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601200" y="2752344"/>
            <a:ext cx="2057400" cy="402336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0" y="2752344"/>
            <a:ext cx="20574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Marketing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3328415"/>
            <a:ext cx="1143000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5760" y="3328415"/>
            <a:ext cx="1234440" cy="621792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3465575"/>
            <a:ext cx="1234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Contínuo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91640" y="3465575"/>
            <a:ext cx="7772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Engajamento detectado (clique / visita) → alerta no HubSpot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601200" y="3419856"/>
            <a:ext cx="2057400" cy="402336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01200" y="3419856"/>
            <a:ext cx="20574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Marketing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3995927"/>
            <a:ext cx="11430000" cy="621792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65760" y="3995927"/>
            <a:ext cx="1234440" cy="621792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5760" y="4133087"/>
            <a:ext cx="1234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&lt; 24h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691640" y="4133087"/>
            <a:ext cx="7772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Follow-up de vendas imediato após sinal de engajamento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601200" y="4087367"/>
            <a:ext cx="2057400" cy="402336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601200" y="4087367"/>
            <a:ext cx="20574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Vendas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4663440"/>
            <a:ext cx="1143000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65760" y="4663440"/>
            <a:ext cx="1234440" cy="621792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65760" y="4800600"/>
            <a:ext cx="1234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30 dias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691640" y="4800600"/>
            <a:ext cx="7772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Revisão de contas frias — trocar ângulo ou pausar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601200" y="4754879"/>
            <a:ext cx="2057400" cy="402336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601200" y="4754879"/>
            <a:ext cx="20574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2F6C"/>
                </a:solidFill>
              </a:rPr>
              <a:t>Mkt + Vdas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589788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44444"/>
                </a:solidFill>
              </a:rPr>
              <a:t>Sinais de engajamento a monitorar: clique em anúncio ABM · visita à landing page · abertura de InMail · download de material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91072"/>
            <a:ext cx="12188952" cy="109728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02F6C"/>
                </a:solidFill>
              </a:rPr>
              <a:t>Metas Q3 2026 — Campanha Integrada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77240"/>
            <a:ext cx="11247120" cy="45720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601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2F6C"/>
                </a:solidFill>
              </a:rPr>
              <a:t>Geração de Demanda (inbound)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53312"/>
            <a:ext cx="5486400" cy="45720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417320"/>
            <a:ext cx="5486400" cy="438912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508760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Leads gerados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1508760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002F6C"/>
                </a:solidFill>
              </a:rPr>
              <a:t>8–12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874519"/>
            <a:ext cx="548640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965960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MQLs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1965960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002F6C"/>
                </a:solidFill>
              </a:rPr>
              <a:t>4–7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331720"/>
            <a:ext cx="5486400" cy="438912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2423160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Reuniões agendadas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0" y="2423160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002F6C"/>
                </a:solidFill>
              </a:rPr>
              <a:t>2–4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788920"/>
            <a:ext cx="548640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2880360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Oportunidades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0" y="2880360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002F6C"/>
                </a:solidFill>
              </a:rPr>
              <a:t>1–2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246120"/>
            <a:ext cx="5486400" cy="438912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3337560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Pipeline inbound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0" y="3337560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002F6C"/>
                </a:solidFill>
              </a:rPr>
              <a:t>R$ 678k–1,3M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96012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2F6C"/>
                </a:solidFill>
              </a:rPr>
              <a:t>ABM (por conta)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0" y="1353312"/>
            <a:ext cx="5212080" cy="45720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583680" y="1417320"/>
            <a:ext cx="5212080" cy="438912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20840" y="1508760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Cobertura de conta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66960" y="1508760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1A7A4A"/>
                </a:solidFill>
              </a:rPr>
              <a:t>&gt; 70% das 156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0" y="1874519"/>
            <a:ext cx="521208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20840" y="1965960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Reuniões Tier 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66960" y="1965960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1A7A4A"/>
                </a:solidFill>
              </a:rPr>
              <a:t>2–3 de 7 contas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83680" y="2331720"/>
            <a:ext cx="5212080" cy="438912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720840" y="2423160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Contas Tier 2 engajadas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66960" y="2423160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1A7A4A"/>
                </a:solidFill>
              </a:rPr>
              <a:t>&gt; 30%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83680" y="2788920"/>
            <a:ext cx="521208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20840" y="2880360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Oportunidades ABM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66960" y="2880360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1A7A4A"/>
                </a:solidFill>
              </a:rPr>
              <a:t>1–2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0" y="3246120"/>
            <a:ext cx="5212080" cy="438912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720840" y="3337560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Pipeline ABM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66960" y="3337560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1A7A4A"/>
                </a:solidFill>
              </a:rPr>
              <a:t>R$ 678k–2M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3840480"/>
            <a:ext cx="11338560" cy="960120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3913632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A800"/>
                </a:solidFill>
              </a:rPr>
              <a:t>Total consolidado Q3 2026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0" y="391363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Oportunidades abertas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43600" y="425196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5A800"/>
                </a:solidFill>
              </a:rPr>
              <a:t>2–4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961120" y="391363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Pipeline gerado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61120" y="425196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5A800"/>
                </a:solidFill>
              </a:rPr>
              <a:t>R$ 1,3M–3,3M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4892040"/>
            <a:ext cx="11338560" cy="50292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94360" y="4956048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002F6C"/>
                </a:solidFill>
              </a:rPr>
              <a:t>Racional: ticket médio R$ 678k — 1 deal fechado paga a campanha inteira. O objetivo do Q3 é criar o primeiro ciclo digital + ABM estruturado e escalar no Q4.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5486400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2F6C"/>
                </a:solidFill>
              </a:rPr>
              <a:t>KPIs ABM — medir por conta, não só por lead: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5806440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44444"/>
                </a:solidFill>
              </a:rPr>
              <a:t>Cobertura · Engajamento por empresa · Velocidade de pipeline · Win rate ABM vs geral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91072"/>
            <a:ext cx="12188952" cy="109728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02F6C"/>
                </a:solidFill>
              </a:rPr>
              <a:t>Budget Integrado — Q3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77240"/>
            <a:ext cx="11247120" cy="45720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005840"/>
            <a:ext cx="11247120" cy="45720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005840"/>
            <a:ext cx="54864" cy="4572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106424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LinkedIn Ads — ABM Tier 1 (7 × R$250 × 3 meses)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1106424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002F6C"/>
                </a:solidFill>
              </a:rPr>
              <a:t>R$ 5.250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499616"/>
            <a:ext cx="1124712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499616"/>
            <a:ext cx="54864" cy="457200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600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LinkedIn Ads — ABM Tier 2 (50 × R$60 × 3 meses)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0" y="16002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002F6C"/>
                </a:solidFill>
              </a:rPr>
              <a:t>R$ 9.000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993392"/>
            <a:ext cx="11247120" cy="45720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1993392"/>
            <a:ext cx="54864" cy="457200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2093976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LinkedIn Ads — ABM Tier 3 (99 × R$12 × 3 meses)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0" y="2093976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002F6C"/>
                </a:solidFill>
              </a:rPr>
              <a:t>R$ 3.564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487168"/>
            <a:ext cx="1124712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2487168"/>
            <a:ext cx="54864" cy="457200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2587752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LinkedIn Ads — Demand gen (fora da lista ABM)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0" y="258775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002F6C"/>
                </a:solidFill>
              </a:rPr>
              <a:t>R$ 3.000–5.000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2980944"/>
            <a:ext cx="11247120" cy="45720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2980944"/>
            <a:ext cx="54864" cy="457200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081528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Google Ads — RFC + SAC + Datasphere suporte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0" y="3081528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002F6C"/>
                </a:solidFill>
              </a:rPr>
              <a:t>R$ 4.500–9.000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474720"/>
            <a:ext cx="1124712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3474720"/>
            <a:ext cx="54864" cy="45720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3575304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Produção de peças (banners, LP, emails, InMails)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69680" y="3575304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002F6C"/>
                </a:solidFill>
              </a:rPr>
              <a:t>R$ 1.500–2.500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3968496"/>
            <a:ext cx="11247120" cy="530352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" y="406908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TOTAL Q3 ESTIMADO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69680" y="40690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F5A800"/>
                </a:solidFill>
              </a:rPr>
              <a:t>R$ 26.800–34.300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4626864"/>
            <a:ext cx="11247120" cy="68580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0" y="4672584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002F6C"/>
                </a:solidFill>
              </a:rPr>
              <a:t>Google Ads atual: CPC R$ 2,48 · CTR 4,97% — menor custo, maior previsibilidade. Escalar primeiro.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4946904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002F6C"/>
                </a:solidFill>
              </a:rPr>
              <a:t>ABM concentra budget onde já há relação. Menor risco, maior taxa de conversão esperada.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91072"/>
            <a:ext cx="12188952" cy="109728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02F6C"/>
                </a:solidFill>
              </a:rPr>
              <a:t>Cronograma Integrado — Q3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77240"/>
            <a:ext cx="11247120" cy="45720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960120"/>
            <a:ext cx="2286000" cy="548640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96012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Pré
até 04/07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508760"/>
            <a:ext cx="2286000" cy="457200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79" y="1572768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• Exportar 156 contas → CSV → upload LinkedIn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79" y="2093976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• Criar audiências Matched (Tier 1, 2, 3)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79" y="2615184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• Criar InMails Tier 1 personalizados (7)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3136391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• Criar emails demand gen + landing page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3657599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• Briefar SDR/vendas — Tier 1 playbook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97480" y="960120"/>
            <a:ext cx="2286000" cy="548640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97480" y="96012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Jul
S1-S2
07–18/07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97480" y="1508760"/>
            <a:ext cx="2286000" cy="457200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88920" y="1572768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• Reativar 95 warm leads (WhatsApp + email RFC)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88920" y="2093976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• Ativar LinkedIn Ads Tier 1 — SDR outreach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88920" y="2615184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• Ativar Tier 2 Agro + Energia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88920" y="3136391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• LinkedIn Ads demand gen + Google Ads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88920" y="3657599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• Posts LinkedIn ângulo SAC parado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74920" y="960120"/>
            <a:ext cx="2286000" cy="548640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74920" y="96012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Jul
S3-S4
21–31/07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74920" y="1508760"/>
            <a:ext cx="2286000" cy="457200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66360" y="1572768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• Email RFC sequência — demand gen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66360" y="2093976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• Ativar Tier 2 Indústria + Tier 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66360" y="2615184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• Artigo blog: RFC bloqueado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66360" y="3136391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• Revisar cobertura de conta ABM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66360" y="3657599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• Posts ângulo sem parceiro técnico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452360" y="960120"/>
            <a:ext cx="2286000" cy="548640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52360" y="96012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Ago
S5-S8
04–29/08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452360" y="1508760"/>
            <a:ext cx="2286000" cy="457200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543800" y="1572768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• Email S4 sobrecarregado + SAC como BI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43800" y="2093976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• Revisão Tier 1: quem engajou?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43800" y="2615184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• Trocar variante menos performática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43800" y="3136391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• Artigo: quem sustenta seu SAC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43800" y="3657599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• Revisão mid-campaign completa (25/08)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829800" y="960120"/>
            <a:ext cx="2286000" cy="548640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829800" y="96012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Set
S9-S12
01–30/09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829800" y="1508760"/>
            <a:ext cx="2286000" cy="457200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921240" y="1572768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• Acelerar canal líder (definir em 25/08)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21240" y="2093976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• Reativar leads não convertidos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21240" y="2615184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• Qualificação comercial — contas engajadas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21240" y="3136391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• Relatório Q3 + aprendizados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921240" y="3657599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• Planejamento Q4 com base nos dados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91072"/>
            <a:ext cx="12188952" cy="566928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5603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Próximos Passos — Esta Semana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896112"/>
            <a:ext cx="10698480" cy="45720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005840"/>
            <a:ext cx="502920" cy="47548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005840"/>
            <a:ext cx="502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1097280"/>
            <a:ext cx="8961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Reativar 95 warm leads via WhatsApp — ângulo RFC urgente — custo zero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78440" y="1097280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F5A800"/>
                </a:solidFill>
              </a:rPr>
              <a:t>Agora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1554480"/>
            <a:ext cx="502920" cy="475488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554480"/>
            <a:ext cx="502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2F6C"/>
                </a:solidFill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1645920"/>
            <a:ext cx="8961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Exportar lista 156 empresas do Leads_Geral.xlsx em CSV para LinkedIn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78440" y="1645920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F5A800"/>
                </a:solidFill>
              </a:rPr>
              <a:t>Até 01/07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2103120"/>
            <a:ext cx="502920" cy="475488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2103120"/>
            <a:ext cx="502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2F6C"/>
                </a:solidFill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2194560"/>
            <a:ext cx="8961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Upload no LinkedIn Campaign Manager — criar 4 audiências Matched por tier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78440" y="2194560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F5A800"/>
                </a:solidFill>
              </a:rPr>
              <a:t>Até 01/07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2651760"/>
            <a:ext cx="502920" cy="475488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2651760"/>
            <a:ext cx="502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2F6C"/>
                </a:solidFill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25880" y="2743200"/>
            <a:ext cx="8961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Criar InMails personalizados para 7 contas Tier 1 (dor por empresa)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78440" y="2743200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F5A800"/>
                </a:solidFill>
              </a:rPr>
              <a:t>Até 04/07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3200400"/>
            <a:ext cx="502920" cy="475488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3200400"/>
            <a:ext cx="502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2F6C"/>
                </a:solidFill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25880" y="3291840"/>
            <a:ext cx="8961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Briefar SDR/vendas: conta, dor identificada no VoC, ângulo, timing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78440" y="3291840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F5A800"/>
                </a:solidFill>
              </a:rPr>
              <a:t>Até 04/07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1520" y="3749040"/>
            <a:ext cx="502920" cy="475488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3749040"/>
            <a:ext cx="502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2F6C"/>
                </a:solidFill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25880" y="3840480"/>
            <a:ext cx="8961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Criar emails demand gen + landing page guarda-chuva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78440" y="3840480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F5A800"/>
                </a:solidFill>
              </a:rPr>
              <a:t>Até 04/07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31520" y="4297680"/>
            <a:ext cx="502920" cy="475488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4297680"/>
            <a:ext cx="502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25880" y="4389120"/>
            <a:ext cx="8961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Ativar LinkedIn Ads Tier 1 + Google Ads na semana 1 de julho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78440" y="4389120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F5A800"/>
                </a:solidFill>
              </a:rPr>
              <a:t>07/07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31520" y="4846320"/>
            <a:ext cx="502920" cy="475488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520" y="4846320"/>
            <a:ext cx="502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25880" y="4937759"/>
            <a:ext cx="8961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Primeira revisão de cobertura ABM e engajamento Tier 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378440" y="4937759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F5A800"/>
                </a:solidFill>
              </a:rPr>
              <a:t>25/07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6364224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2F6C"/>
                </a:solidFill>
              </a:rPr>
              <a:t>solveplan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