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09728"/>
            <a:ext cx="45720" cy="6181344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Campanha Integrada —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Fábrica de
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800"/>
                </a:solidFill>
              </a:rPr>
              <a:t>LinkedIn Ads + Email Marketing — 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BB"/>
                </a:solidFill>
              </a:rPr>
              <a:t>"A implantação do SAP foi só o começo.
Quem cuida do que vem depois?"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Julho · Agosto · Setembro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80160"/>
            <a:ext cx="5120640" cy="86868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258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800"/>
                </a:solidFill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4813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contas — mensagem 1:1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286000"/>
            <a:ext cx="5120640" cy="86868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verticais / grupos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291840"/>
            <a:ext cx="5120640" cy="86868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33756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4930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canais por conta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297680"/>
            <a:ext cx="5120640" cy="86868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34340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800"/>
                </a:solidFill>
              </a:rPr>
              <a:t>2+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498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oportunidades esperadas 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642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Estrutura da Campanha — Fase 1 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2F6C"/>
                </a:solidFill>
              </a:rPr>
              <a:t>"A implantação do SAP foi só o começo. Quem cuida do que vem depois?"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46634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94960" cy="7315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Fase 1 — 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LinkedIn Ads + Email Marketing — 31 contas-alvo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12848"/>
            <a:ext cx="512064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31 contas — mensagem 1:1 por grupo/empresa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LinkedIn Ads: Sponsored Content + InMail por grupo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Email: sequência 3 emails por grupo (5 versões)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SDR outreach coordenado — dia 3-5 após ativação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77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Mensuração por conta — cobertura e engajamento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74920"/>
            <a:ext cx="512064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800"/>
                </a:solidFill>
              </a:rPr>
              <a:t>Meta Q3: 3–5 reuniões | 1–3 OPPs | R$ 678k–2M pipeline | Budget: R$ 18.740–19.240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5394960" cy="4663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94960" cy="7315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4447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44"/>
                </a:solidFill>
              </a:rPr>
              <a:t>Fase 2 — Após 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01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Geração de demanda inbound — ativada com os aprendizados do 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212848"/>
            <a:ext cx="5120640" cy="457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331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Google Ads — RFC + SAC + Datasphere suporte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743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LinkedIn orgânico — posts por ângulo de 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154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Blog / SEO — 2 artigos (RFC + quem sustenta SAC)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566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Landing page inbound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977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ICP amplo — além das 31 contas ABM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5074920"/>
            <a:ext cx="5120640" cy="5486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Escalar o que performou no Q3 para um público mais amplo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31 Contas — ABM 1:1 — 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749039" cy="5074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749039" cy="5029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05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FASE 1
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024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ABM 1:1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31 contas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20240"/>
            <a:ext cx="3474720" cy="45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Critério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677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Mensagem por grupo/empresa
5 verticais
Dor específica por segmento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944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Tática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00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LinkedIn Sponsored Content
+ LinkedIn InMail
+ Email (3 por grupo)
+ SDR outreach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R$ 18.740–19.240 / 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Exemplos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73659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Saúde · Indústria · Energia
Agro / Alimentos
Logística / Infra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960120"/>
            <a:ext cx="3749039" cy="5074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960120"/>
            <a:ext cx="3749039" cy="5029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1005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FASE 2
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024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Geração de Demanda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88888"/>
                </a:solidFill>
              </a:rPr>
              <a:t>ICP amplo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1920240"/>
            <a:ext cx="3474720" cy="45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Critério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22677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Escalar o que performou
no Q3 para um público
mais amplo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944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Tática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3200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Google Ads
Blog / SEO
LinkedIn orgânico
Landing page inbound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</a:rPr>
              <a:t>Budget Q4 (a definir)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Exemplos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473659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RFC + SAC + Datasphere
Keywords de busca ativa
Conteúdo orgânico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85632" y="960120"/>
            <a:ext cx="3749039" cy="5074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85632" y="960120"/>
            <a:ext cx="3749039" cy="5029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1005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RESULTADO
Esperado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5872" y="1024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Por conta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7A4A"/>
                </a:solidFill>
              </a:rPr>
              <a:t>Metas Q3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1920240"/>
            <a:ext cx="3474720" cy="45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Critério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2677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Pressão coordenada
sobre cada conta
até a reunião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944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Tática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200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3–5 reuniões agendadas
1–3 oportunidades
R$ 678k–2M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Budget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1 deal paga tudo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Exemplos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73659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Ticket médio: R$ 678.406
Budget Q3: R$ 18.740
ROI: 1 deal = 36x o investimento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31 Contas — Mensagem Personalizada por Grupo / Empresa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800"/>
                </a:solidFill>
              </a:rPr>
              <a:t>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800"/>
                </a:solidFill>
              </a:rPr>
              <a:t>Dor (VoC)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005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800"/>
                </a:solidFill>
              </a:rPr>
              <a:t>Ângulo da mensagem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005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800"/>
                </a:solidFill>
              </a:rPr>
              <a:t>Prioridade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8"/>
            <a:ext cx="11430000" cy="548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89888"/>
            <a:ext cx="54864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49961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Hospital Sírio-Libanês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4996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Saúde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49961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Quem cuida do SAC depois da implantação?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481328"/>
            <a:ext cx="1645920" cy="34747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14813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6596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965960"/>
            <a:ext cx="54864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07568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Rede D'Or São Luiz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0756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Saúde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07568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Sem parceiro técnico para evoluir o SAC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057400"/>
            <a:ext cx="1645920" cy="34747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2057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Suporte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42032"/>
            <a:ext cx="11430000" cy="548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542032"/>
            <a:ext cx="54864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65176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Althaia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26517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Farma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265176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SAC parado — licença paga, nada em uso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2633472"/>
            <a:ext cx="1645920" cy="34747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2633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Suporte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18103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118103"/>
            <a:ext cx="54864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32278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Laboratório Teuto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2278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Farma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22783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SAC parado — dados regulatórios esperando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49840" y="3209544"/>
            <a:ext cx="1645920" cy="34747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32095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Suporte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694176"/>
            <a:ext cx="11430000" cy="548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3694176"/>
            <a:ext cx="54864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380390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Empresas Randon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38039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Indústria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380390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S4 pesado — cada query aparece na fatura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9840" y="3785615"/>
            <a:ext cx="16459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378561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S4 Pesado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270248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4270248"/>
            <a:ext cx="54864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43799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Farmax / Brametal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43799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Indústria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437997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S4 sobrecarregado + RFC em risco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4361688"/>
            <a:ext cx="16459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S4 Pesado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846320"/>
            <a:ext cx="11430000" cy="548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846320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" y="495604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Norte Energia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495604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Energia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95604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RFC urgente — migração antes do bloqueio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4937759"/>
            <a:ext cx="164592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9840" y="493775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RFC Urgente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422392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5760" y="5422392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55321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Aliança / Petronas / Argo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34640" y="55321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Energia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77840" y="553212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RFC urgente — arquitetura legada em risco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5513831"/>
            <a:ext cx="164592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49840" y="551383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RFC Urgente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6089903"/>
            <a:ext cx="1143000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613562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2F6C"/>
                </a:solidFill>
              </a:rPr>
              <a:t>Tática Tier 1: InMail personalizado por empresa + SDR outreach dia 3-5 após ativação + Sponsored Content segmentado. Budget: R$ 250/conta/mês.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Mensagens por Empresa — InMail + Email Personalizado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749039" cy="5074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749039" cy="7315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51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Saúde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051560"/>
            <a:ext cx="11887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0515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Sírio-Libanês
Rede D'Or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572768"/>
            <a:ext cx="3474720" cy="457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6642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Intro text LinkedIn: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"Hospitais de referência têm demandas analíticas que vão além de dashboards. O SAC tem tudo isso — falta suporte técnico para ativar e evoluir."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80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Headline: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154680"/>
            <a:ext cx="3474720" cy="5029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"Quem cuida do SAC depois da implantação?"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7490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Empresas: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00507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Orçamento por CC · Indicadores assistenciais
Planejamento de escalas · Análise regulatória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960120"/>
            <a:ext cx="3749039" cy="5074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960120"/>
            <a:ext cx="3749039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1051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Indústria
Energia
Logística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576" y="1051560"/>
            <a:ext cx="118872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10515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Randon · Norte Energia
VLI · Arteris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424" y="1572768"/>
            <a:ext cx="347472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16642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Intro text LinkedIn: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"RFC em risco de bloqueio SAP / S4 sobrecarregado com relatórios / SAC contratado sem planning — cada conta tem sua dor, cada InMail tem sua mensagem."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2880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Headline: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5424" y="3154680"/>
            <a:ext cx="347472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"S4 pesado · RFC urgente · SAC sem planning"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7490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Empresas: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00507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1 InMail por empresa
1 sequência de 3 emails por empresa
Angulo específico por dor identificada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85632" y="960120"/>
            <a:ext cx="3749039" cy="5074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85632" y="960120"/>
            <a:ext cx="3749039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1051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Farma
Agro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54512" y="1051560"/>
            <a:ext cx="1188720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54512" y="10515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Grupo Cimed
Grupo Jacto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1572768"/>
            <a:ext cx="3474720" cy="45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16642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Intro text LinkedIn: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"Farma: SAC parado, licença paga sem uso. Agro: S4 sobrecarregado + SAC sem planning ativo. Dois contextos, duas mensagens diferentes."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880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Headline: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3154680"/>
            <a:ext cx="3474720" cy="5029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"Sua licença SAC está sendo aproveitada?"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7490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Empresas: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00507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Cimed: planning de produção e forecast
Jacto: desafogar S4 + ativar planning SAC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Orquestração Marketing + Vendas — ABM Tier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ABM funciona quando marketing e vendas estão sincronizados por conta.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6217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234440" cy="62179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39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6303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Conta entra na audiência LinkedIn — campanha ativa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417320"/>
            <a:ext cx="2057400" cy="402336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417320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93391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93391"/>
            <a:ext cx="1234440" cy="62179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30551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 3–5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130551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SDR faz outreach personalizado com ângulo da dor (VoC)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084831"/>
            <a:ext cx="2057400" cy="40233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084831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Vendas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60903"/>
            <a:ext cx="11430000" cy="6217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60903"/>
            <a:ext cx="1234440" cy="62179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798063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Sem 1–4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798063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Conta vê anúncio 3–5x por semana (Sponsored + InMail)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752344"/>
            <a:ext cx="2057400" cy="402336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752344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328415"/>
            <a:ext cx="1234440" cy="62179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465575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Contínuo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465575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Engajamento detectado (clique / visita) → alerta no HubSpot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3419856"/>
            <a:ext cx="2057400" cy="402336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3419856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95927"/>
            <a:ext cx="11430000" cy="6217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95927"/>
            <a:ext cx="1234440" cy="62179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133087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&lt; 24h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133087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Follow-up de vendas imediato após sinal de engajamento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4087367"/>
            <a:ext cx="2057400" cy="40233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4087367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Vendas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663440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663440"/>
            <a:ext cx="1234440" cy="62179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800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30 dias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48006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Revisão de contas frias — trocar ângulo ou pausar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4754879"/>
            <a:ext cx="2057400" cy="40233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4754879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Mkt + Vdas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897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Sinais de engajamento a monitorar: clique em anúncio ABM · visita à landing page · abertura de InMail · download de material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Metas Q3 2026 — Campanha Integrada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Geração de Demanda (inbound)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548640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Leads gerados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5087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8–12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MQLs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4–7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548640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Reuniões agendadas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2–4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80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Oportunidades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803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1–2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46120"/>
            <a:ext cx="548640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375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Pipeline inbound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3375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R$ 678k–1,3M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960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ABM (por conta)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353312"/>
            <a:ext cx="5212080" cy="45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1417320"/>
            <a:ext cx="521208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508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Cobertura de conta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5087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A"/>
                </a:solidFill>
              </a:rPr>
              <a:t>&gt; 70% das 156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874519"/>
            <a:ext cx="5212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19659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Reuniões Tier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A"/>
                </a:solidFill>
              </a:rPr>
              <a:t>2–3 de 7 contas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331720"/>
            <a:ext cx="521208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423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Contas Tier 2 engajadas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4231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A"/>
                </a:solidFill>
              </a:rPr>
              <a:t>&gt; 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788920"/>
            <a:ext cx="5212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880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Oportunidades ABM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8803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A"/>
                </a:solidFill>
              </a:rPr>
              <a:t>1–2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246120"/>
            <a:ext cx="521208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337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Pipeline ABM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3375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7A4A"/>
                </a:solidFill>
              </a:rPr>
              <a:t>R$ 678k–2M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40480"/>
            <a:ext cx="11338560" cy="9601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800"/>
                </a:solidFill>
              </a:rPr>
              <a:t>Total consolidado Q3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Oportunidades abertas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800"/>
                </a:solidFill>
              </a:rPr>
              <a:t>2–4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Pipeline gerado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800"/>
                </a:solidFill>
              </a:rPr>
              <a:t>R$ 1,3M–3,3M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92040"/>
            <a:ext cx="1133856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9560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2F6C"/>
                </a:solidFill>
              </a:rPr>
              <a:t>Racional: ticket médio R$ 678k — 1 deal fechado paga a campanha inteira. O objetivo do Q3 é criar o primeiro ciclo digital + ABM estruturado e escalar no Q4.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4864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KPIs ABM — medir por conta, não só por lead: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8064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Cobertura · Engajamento por empresa · Velocidade de pipeline · Win rate ABM vs geral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Budget — Q3 2026 (Fase 1: Ads + Email)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0642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LinkedIn Ads — InMail (31 contas × R$80 × 3 meses)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106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R$ 7.440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99616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99616"/>
            <a:ext cx="54864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00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LinkedIn Ads — Sponsored Content (31 × R$100 × 3 meses)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R$ 9.300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93392"/>
            <a:ext cx="112471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993392"/>
            <a:ext cx="54864" cy="457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9397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Produção de peças (5 variantes banner + InMails + emails)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093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R$ 2.000–2.500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87168"/>
            <a:ext cx="11247120" cy="53035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877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Q3 — FASE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587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A800"/>
                </a:solidFill>
              </a:rPr>
              <a:t>R$ 18.740–19.240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54096"/>
            <a:ext cx="112471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54096"/>
            <a:ext cx="54864" cy="457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154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Fase 2 — Google Ads + Blog + Orgânico (Q4)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2F6C"/>
                </a:solidFill>
              </a:rPr>
              <a:t>A definir após Q3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39312"/>
            <a:ext cx="112471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85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2F6C"/>
                </a:solidFill>
              </a:rPr>
              <a:t>Google Ads atual: CPC R$ 2,48 · CTR 4,97% — menor custo, maior previsibilidade. Escalar primeiro.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59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2F6C"/>
                </a:solidFill>
              </a:rPr>
              <a:t>ABM concentra budget onde já há relação. Menor risco, maior taxa de conversão esperada.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F6C"/>
                </a:solidFill>
              </a:rPr>
              <a:t>Cronograma Integrado — 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28600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Pré
até 04/07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286000" cy="4572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72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Exportar 156 contas → CSV → upload 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9397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Criar audiências Matched (Tier 1, 2,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61518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Criar InMails Tier 1 personalizados (7)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13639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Criar emails demand gen +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6575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Briefar SDR/vendas — Tier 1 playbook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960120"/>
            <a:ext cx="228600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Jul
S1-S2
07–18/07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508760"/>
            <a:ext cx="2286000" cy="4572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572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Reativar 95 warm leads (WhatsApp + email RFC)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09397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Ativar LinkedIn Ads Tier 1 — SDR outreach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61518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Ativar Tier 2 Agro + Energia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13639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LinkedIn Ads demand gen + Google 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6575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Posts LinkedIn ângulo SAC parado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960120"/>
            <a:ext cx="228600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Jul
S3-S4
21–31/07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1508760"/>
            <a:ext cx="2286000" cy="4572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1572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Email RFC sequência — demand 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09397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Ativar Tier 2 Indústria + Tier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61518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Artigo blog: RFC bloqueado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13639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Revisar cobertura de conta ABM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6575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Posts ângulo sem parceiro técnico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960120"/>
            <a:ext cx="228600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Ago
S5-S8
04–29/08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1508760"/>
            <a:ext cx="2286000" cy="4572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1572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Email S4 sobrecarregado + SAC como 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09397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Revisão Tier 1: quem engajou?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61518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Trocar variante menos performática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13639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Artigo: quem sustenta seu SAC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36575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Revisão mid-campaign completa (25/08)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960120"/>
            <a:ext cx="228600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Set
S9-S12
01–30/09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9800" y="1508760"/>
            <a:ext cx="2286000" cy="4572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1572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Acelerar canal líder (definir em 25/08)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209397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Reativar leads não convertidos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261518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Qualificação comercial — contas engajadas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313639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Relatório Q3 + aprendizados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36575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• Planejamento Q4 com base nos dados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Próximos Passos — Esta Semana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69848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50292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09728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Reativar 95 warm leads via WhatsApp — ângulo RFC urgente — custo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0972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800"/>
                </a:solidFill>
              </a:rPr>
              <a:t>Agora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50292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64592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Upload lista-contas-abm.csv (39 empresas) no LinkedIn Campaign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16459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800"/>
                </a:solidFill>
              </a:rPr>
              <a:t>Até 01/07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0292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0312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19456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Criar 5 audiências Matched (T1, T2 Agro, T2 Energia/Ind, T2 Log/Saúde, T3)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21945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800"/>
                </a:solidFill>
              </a:rPr>
              <a:t>Até 01/07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50292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74320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Criar InMails personalizados para 8 contas Tier 1 (dor por empresa)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743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800"/>
                </a:solidFill>
              </a:rPr>
              <a:t>Até 04/07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00400"/>
            <a:ext cx="50292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0040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29184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Briefar SDR/vendas: conta, dor identificada no VoC, ângulo, timing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32918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800"/>
                </a:solidFill>
              </a:rPr>
              <a:t>Até 04/07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49040"/>
            <a:ext cx="502920" cy="47548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74904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84048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Criar emails demand gen + landing page guarda-chuva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38404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800"/>
                </a:solidFill>
              </a:rPr>
              <a:t>Até 04/07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297680"/>
            <a:ext cx="502920" cy="47548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29768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38912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Ativar LinkedIn Ads Tier 1 + Google Ads na semana 1 de julho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43891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800"/>
                </a:solidFill>
              </a:rPr>
              <a:t>07/07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846320"/>
            <a:ext cx="502920" cy="47548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84632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937759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Primeira revisão de cobertura ABM e engajamento Tier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493775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800"/>
                </a:solidFill>
              </a:rPr>
              <a:t>25/07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642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