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0" y="109728"/>
            <a:ext cx="45720" cy="6181344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Campanha Integrada — 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Fábrica de
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800"/>
                </a:solidFill>
              </a:rPr>
              <a:t>Geração de Demanda + ABM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BBBBB"/>
                </a:solidFill>
              </a:rPr>
              <a:t>"A implantação do SAP foi só o começo.
Quem cuida do que vem depois?"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</a:rPr>
              <a:t>Julho · Agosto · Setembro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28016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32588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4813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contas-alvo definidas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28600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33172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48716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contas Tier 1 (prioritárias)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29184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33756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49300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warm leads para reativar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29768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34340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2+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449884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oportunidades esperadas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36422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solveplan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Dois Movimentos Simultâneos — Mesma Mensagem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002F6C"/>
                </a:solidFill>
              </a:rPr>
              <a:t>"A implantação do SAP foi só o começo. Quem cuida do que vem depois?"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394960" cy="46634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5394960" cy="7315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Geração de Demanda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019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Para quem ainda não nos conhece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12848"/>
            <a:ext cx="512064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Email marketing — 95 warm leads (reativação imediata)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432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LinkedIn Ads — ICP geral (fora da lista ABM)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546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Google Ads — keywords RFC + SAC + Datasphere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5661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LinkedIn orgânico — 4-5 posts/mês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776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Blog — 2 artigos SEO (RFC + quem sustenta SAC)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074920"/>
            <a:ext cx="512064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120640"/>
            <a:ext cx="4846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Meta: 8–12 leads | 2–4 reuniões | R$ 678k–1,3M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371600"/>
            <a:ext cx="5394960" cy="46634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371600"/>
            <a:ext cx="5394960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14447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Account-Based Marketing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19019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Para quem já foi impactado nos eventos H1 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212848"/>
            <a:ext cx="5120640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33172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Tier 1: 7 contas VoC — InMail personalizado + SDR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7432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Tier 2: ~50 contas por vertical (Agro, Energia, Indústria)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1546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Tier 3: ~99 contas — matched audience LinkedIn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5661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Orquestração com vendas — alerta de engajamento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9776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Mensuração por conta — cobertura e pipeline ABM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5074920"/>
            <a:ext cx="5120640" cy="54864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5120640"/>
            <a:ext cx="4846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Meta: 2–3 reuniões Tier 1 | 1–2 OPPs ABM | R$ 678k–2M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Segmentação ABM — 39 Contas em 3 Tiers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749039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0058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TIER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0241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1:1 Personalizado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508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8 contas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920240"/>
            <a:ext cx="347472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Critério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Maior porte e potencial
Mensagem por empresa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9443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Tática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2004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InMail personalizado
+ SDR outreach
+ Sponsored Content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Budget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R$ 250/conta/mês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Exemplos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73659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Sírio-Libanês · Rede D'Or
Randon · Norte Energia
VLI · Arteris
Grupo Cimed · Grupo Jacto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5696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25696" y="960120"/>
            <a:ext cx="3749039" cy="5029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5424" y="10058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TIER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10241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2F6C"/>
                </a:solidFill>
              </a:rPr>
              <a:t>1:Few por Vertical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1508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23 contas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35424" y="1920240"/>
            <a:ext cx="34747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5424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Critério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5424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Agrupadas por setor
Mensagem por vertical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29443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Tática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5424" y="32004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Sponsored Content A/B
por vertical
+ SDR reforçado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R$ 60/conta/mês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Exemplos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5424" y="473659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Agro · Energia · Indústria
Logística · Saúde / Farma
(5 verticais)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85632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85632" y="960120"/>
            <a:ext cx="3749039" cy="5029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0" y="10058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TIER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05872" y="10241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1:Many ICP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1508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8 contas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1920240"/>
            <a:ext cx="3474720" cy="45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Critério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0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Perfil SAP identificado
Mensagem guarda-chuva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0" y="29443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Tática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32004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Matched Audience LinkedIn
Mensagem ICP geral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Budget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R$ 12/conta/mês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Exemplos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0" y="473659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OCP Brasil · Grupo DMA
Cadastra · Grupo Positivo
Ferroeste · e outras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Tier 1 — 8 Contas Estratégicas — Mensagem Personalizada por Empresa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11430000" cy="41148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Empresa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005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Dor (VoC)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005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Ângulo da mensagem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10058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Prioridade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89888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89888"/>
            <a:ext cx="54864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49961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Hospital Sírio-Libanês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149961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Saúde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1499616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Quem cuida do SAC depois da implantação?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0" y="1481328"/>
            <a:ext cx="1645920" cy="34747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0" y="148132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Suporte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965960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1965960"/>
            <a:ext cx="54864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07568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Rede D'Or São Luiz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07568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Saúde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075688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Sem parceiro técnico para evoluir o SAC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49840" y="2057400"/>
            <a:ext cx="1645920" cy="34747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0" y="205740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Suporte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542032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2542032"/>
            <a:ext cx="54864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265176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Empresas Randon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265176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Indústria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651760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S4 pesado — cada query aparece na fatura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0" y="2633472"/>
            <a:ext cx="164592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0" y="263347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S4 Pesado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18103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18103"/>
            <a:ext cx="54864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322783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Norte Energia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322783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Energia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227832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RFC urgente — migração antes do bloqueio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49840" y="3209544"/>
            <a:ext cx="164592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32095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RFC Urgente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694176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3694176"/>
            <a:ext cx="54864" cy="54864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80390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VLI Logística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34640" y="380390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Logística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77840" y="3803904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SAC só como BI — planning esperando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0" y="3785615"/>
            <a:ext cx="1645920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0" y="3785615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Sem Parceiro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270248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4270248"/>
            <a:ext cx="54864" cy="54864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" y="437997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Arteris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34640" y="437997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Infraestrutura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77840" y="4379976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Sem parceiro técnico para o que vem depois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49840" y="4361688"/>
            <a:ext cx="1645920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149840" y="436168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Sem Parceiro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846320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5760" y="4846320"/>
            <a:ext cx="54864" cy="54864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" y="495604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Grupo Cimed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495604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4956048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SAC parado — licença paga, nada em uso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149840" y="4937759"/>
            <a:ext cx="1645920" cy="34747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49840" y="4937759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F6C"/>
                </a:solidFill>
              </a:rPr>
              <a:t>SAC Parado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5422392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5760" y="5422392"/>
            <a:ext cx="54864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75488" y="553212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Grupo Jacto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34640" y="553212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Agro / Equipamentos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77840" y="5532120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S4 pesado + SAC sem planning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149840" y="5513831"/>
            <a:ext cx="164592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49840" y="5513831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S4 Pesado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6089903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613562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Tática Tier 1: InMail personalizado por empresa + SDR outreach dia 3-5 após ativação + Sponsored Content segmentado. Budget: R$ 250/conta/mês.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Tier 2 — Mensagens por Vertical (23 Contas)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749039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051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Agro /
Alimentos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1051560"/>
            <a:ext cx="1188720" cy="38404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051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10 contas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572768"/>
            <a:ext cx="3474720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66420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Intro text LinkedIn: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"Na safra, seu S4 não pode travar. Cada relatório no transacional custa performance e aparece na fatura."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Headline: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3154680"/>
            <a:ext cx="3474720" cy="5029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2004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"Desafogue seu S4 antes da safra"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74903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Empresas: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00507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Cocatrel · Usina São Manoel · VB Alimentos
TMG · BrasilAgro · Cotrijal
Sementes Jotabasso · Verde Campo
Alvoar · Cornélio Brennand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960120"/>
            <a:ext cx="3749039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5424" y="1051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Energia /
Indústria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94576" y="1051560"/>
            <a:ext cx="1188720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6" y="1051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8 contas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35424" y="1572768"/>
            <a:ext cx="347472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5424" y="166420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Intro text LinkedIn: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5424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"A SAP vai bloquear suas extrações via RFC. Empresas com arquiteturas legadas estão em risco operacional."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5424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Headline: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35424" y="3154680"/>
            <a:ext cx="347472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26864" y="32004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"Sua extração via RFC está em risco"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374903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Empresas: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400507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Aliança Geração de Energia · Petronas · Argo Energia
Farmax · Brametal · Morlan
Cimentos Liz · FCC Química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85632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85632" y="960120"/>
            <a:ext cx="3749039" cy="7315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0" y="1051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Logística /
Saúde / Farma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54512" y="1051560"/>
            <a:ext cx="1188720" cy="38404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54512" y="1051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5 contas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95360" y="1572768"/>
            <a:ext cx="3474720" cy="45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0" y="166420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Intro text LinkedIn: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"O time de consultoria foi embora depois da implantação. Quem evolui seu ambiente SAC agora?"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Headline: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95360" y="3154680"/>
            <a:ext cx="3474720" cy="5029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32004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"Sem parceiro técnico para o SAC?"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374903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Empresas: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400507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BBM Logística · Rota das Bandeiras
DELP Engenharia
Althaia · Laboratório Teuto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Orquestração Marketing + Vendas — ABM Tier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ABM funciona quando marketing e vendas estão sincronizados por conta.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11430000" cy="62179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234440" cy="62179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39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Dia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463039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 entra na audiência LinkedIn — campanha ativa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0" y="1417320"/>
            <a:ext cx="2057400" cy="402336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1417320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993391"/>
            <a:ext cx="114300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993391"/>
            <a:ext cx="1234440" cy="62179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130551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Dia 3–5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130551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SDR faz outreach personalizado com ângulo da dor (VoC)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0" y="2084831"/>
            <a:ext cx="2057400" cy="402336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0" y="2084831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Vendas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660903"/>
            <a:ext cx="11430000" cy="62179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2660903"/>
            <a:ext cx="1234440" cy="62179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798063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Sem 1–4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2798063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 vê anúncio 3–5x por semana (Sponsored + InMail)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752344"/>
            <a:ext cx="2057400" cy="402336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2752344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328415"/>
            <a:ext cx="114300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328415"/>
            <a:ext cx="1234440" cy="62179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465575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Contínuo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3465575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Engajamento detectado (clique / visita) → alerta no HubSpot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3419856"/>
            <a:ext cx="2057400" cy="402336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3419856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995927"/>
            <a:ext cx="11430000" cy="62179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95927"/>
            <a:ext cx="1234440" cy="62179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4133087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&lt; 24h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133087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Follow-up de vendas imediato após sinal de engajamento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4087367"/>
            <a:ext cx="2057400" cy="402336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0" y="4087367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Vendas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663440"/>
            <a:ext cx="114300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4663440"/>
            <a:ext cx="1234440" cy="62179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48006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30 dias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4800600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Revisão de contas frias — trocar ângulo ou pausar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01200" y="4754879"/>
            <a:ext cx="2057400" cy="402336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0" y="4754879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Mkt + Vdas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89788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Sinais de engajamento a monitorar: clique em anúncio ABM · visita à landing page · abertura de InMail · download de material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Metas Q3 2026 — Campanha Integrada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Geração de Demanda (inbound)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548640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087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Leads gerados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5087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8–12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74519"/>
            <a:ext cx="5486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65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MQLs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9659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4–7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548640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Reuniões agendadas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4231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2–4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88920"/>
            <a:ext cx="5486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Oportunidades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803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1–2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46120"/>
            <a:ext cx="548640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3375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Pipeline inbound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3375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R$ 678k–1,3M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9601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ABM (por conta)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1353312"/>
            <a:ext cx="5212080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0" y="1417320"/>
            <a:ext cx="521208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15087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Cobertura de conta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15087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&gt; 70% das 156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1874519"/>
            <a:ext cx="52120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19659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Reuniões Tier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19659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2–3 de 7 contas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2331720"/>
            <a:ext cx="521208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24231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Contas Tier 2 engajadas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24231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&gt; 30%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2788920"/>
            <a:ext cx="52120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0840" y="28803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Oportunidades ABM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8803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1–2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3246120"/>
            <a:ext cx="521208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33375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Pipeline ABM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33375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R$ 678k–2M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840480"/>
            <a:ext cx="11338560" cy="9601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3913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800"/>
                </a:solidFill>
              </a:rPr>
              <a:t>Total consolidado Q3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39136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Oportunidades abertas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42519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800"/>
                </a:solidFill>
              </a:rPr>
              <a:t>2–4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39136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Pipeline gerado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42519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800"/>
                </a:solidFill>
              </a:rPr>
              <a:t>R$ 1,3M–3,3M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892040"/>
            <a:ext cx="11338560" cy="502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495604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Racional: ticket médio R$ 678k — 1 deal fechado paga a campanha inteira. O objetivo do Q3 é criar o primeiro ciclo digital + ABM estruturado e escalar no Q4.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4864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F6C"/>
                </a:solidFill>
              </a:rPr>
              <a:t>KPIs ABM — medir por conta, não só por lead: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8064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Cobertura · Engajamento por empresa · Velocidade de pipeline · Win rate ABM vs geral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Budget Integrado — Q3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54864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0642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LinkedIn Ads — ABM Tier 1 (7 × R$250 × 3 meses)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10642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R$ 5.250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499616"/>
            <a:ext cx="54864" cy="45720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600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LinkedIn Ads — ABM Tier 2 (50 × R$60 × 3 meses)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1600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R$ 9.000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93392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993392"/>
            <a:ext cx="54864" cy="4572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093976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LinkedIn Ads — ABM Tier 3 (99 × R$12 × 3 meses)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09397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R$ 3.564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487168"/>
            <a:ext cx="112471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487168"/>
            <a:ext cx="54864" cy="4572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5877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LinkedIn Ads — Demand gen (fora da lista ABM)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5877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R$ 3.000–5.000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980944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2980944"/>
            <a:ext cx="54864" cy="4572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815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Google Ads — RFC + SAC + Datasphere suporte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30815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R$ 4.500–9.000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474720"/>
            <a:ext cx="54864" cy="4572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7530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Produção de peças (banners, LP, emails, InMails)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357530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R$ 1.500–2.500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968496"/>
            <a:ext cx="11247120" cy="53035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0690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TOTAL Q3 ESTIMADO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4069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5A800"/>
                </a:solidFill>
              </a:rPr>
              <a:t>R$ 26.800–34.300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626864"/>
            <a:ext cx="11247120" cy="6858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67258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Google Ads atual: CPC R$ 2,48 · CTR 4,97% — menor custo, maior previsibilidade. Escalar primeiro.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9469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ABM concentra budget onde já há relação. Menor risco, maior taxa de conversão esperada.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Cronograma Integrado — Q3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Pré
até 04/07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Exportar 156 contas → CSV → upload LinkedIn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Criar audiências Matched (Tier 1, 2,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Criar InMails Tier 1 personalizados (7)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Criar emails demand gen + landing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Briefar SDR/vendas — Tier 1 playbook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Jul
S1-S2
07–18/07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892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Reativar 95 warm leads (WhatsApp + email RFC)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Ativar LinkedIn Ads Tier 1 — SDR outreach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Ativar Tier 2 Agro + Energia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LinkedIn Ads demand gen + Google Ads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Posts LinkedIn ângulo SAC parado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Jul
S3-S4
21–31/07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7492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6636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Email RFC sequência — demand 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Ativar Tier 2 Indústria + Tier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Artigo blog: RFC bloqueado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Revisar cobertura de conta ABM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Posts ângulo sem parceiro técnico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6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6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Ago
S5-S8
04–29/08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5236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Email S4 sobrecarregado + SAC como BI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Revisão Tier 1: quem engajou?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Trocar variante menos performática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4380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Artigo: quem sustenta seu SAC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380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Revisão mid-campaign completa (25/08)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2980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2980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Set
S9-S12
01–30/09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2980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2124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Acelerar canal líder (definir em 25/08)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Reativar leads não convertidos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Qualificação comercial — contas engajadas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2124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Relatório Q3 + aprendizados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2124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Planejamento Q4 com base nos dados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Próximos Passos — Esta Semana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96112"/>
            <a:ext cx="1069848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005840"/>
            <a:ext cx="502920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09728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Reativar 95 warm leads via WhatsApp — ângulo RFC urgente — custo zero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10972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Agora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55448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5448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64592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Upload lista-contas-abm.csv (39 empresas) no LinkedIn Campaign 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164592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01/07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10312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10312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19456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Criar 5 audiências Matched (T1, T2 Agro, T2 Energia/Ind, T2 Log/Saúde, T3)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440" y="219456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01/07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65176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65176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274320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Criar InMails personalizados para 8 contas Tier 1 (dor por empresa)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27432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20040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20040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329184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Briefar SDR/vendas: conta, dor identificada no VoC, ângulo, timing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440" y="32918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74904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74904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84048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Criar emails demand gen + landing page guarda-chuva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78440" y="38404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297680"/>
            <a:ext cx="502920" cy="47548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29768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438912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Ativar LinkedIn Ads Tier 1 + Google Ads na semana 1 de julho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78440" y="438912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07/07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846320"/>
            <a:ext cx="502920" cy="47548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84632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4937759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Primeira revisão de cobertura ABM e engajamento Tier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78440" y="4937759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25/07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36422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solveplan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