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1379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Montserrat"/>
              </a:rPr>
              <a:t>PLANEJAMENTO DE CAMPANHA · WEBINAR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rompt"/>
              </a:rPr>
              <a:t>Data-First: como a Klabin construiu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rompt"/>
              </a:rPr>
              <a:t>a fundação para IA no SAP Datasphere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B8C0D4"/>
                </a:solidFill>
                <a:latin typeface="Montserrat"/>
              </a:rPr>
              <a:t>Webinar online · 21/10/2026 · 10h-10h50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Realização: Solveplan   ·   Documento criado em 02/09/2026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SUMÁRIO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 que tem neste documento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1. Visão geral e objetivo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2. Contexto e status atual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3. Público-alvo (personas)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4. Oferta e mensagem central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5. Estrutura do webinar (50 min)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6. Cronograma de lançamento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7. Canais e formatos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8. Metas de sucesso (funil)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9. Budget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10. Peças necessárias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11. Integração comercial e KPIs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12.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1. VISÃO GERAL E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Gerar demanda qualificada para SAP Datasphere e BDC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Montserrat"/>
              </a:rPr>
              <a:t>Objetivo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Montserrat"/>
              </a:rPr>
              <a:t>Geração de leads e reuniões qualificadas para os serviços da Solveplan em SAP Datasphere, SAP Business Data Cloud (BDC), fundação e integração de dados, analytics, preparação de dados para IA e evolução/gestão de ambientes Datasphere (Solve Watch).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Montserrat"/>
              </a:rPr>
              <a:t>Proposta de valor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14630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94FF96"/>
                </a:solidFill>
                <a:latin typeface="Prompt"/>
              </a:defRPr>
            </a:pPr>
            <a:r>
              <a:t>"Antes da IA, vêm os dados."</a:t>
            </a:r>
          </a:p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  <a:latin typeface="Montserrat"/>
              </a:defRPr>
            </a:pPr>
            <a:r>
              <a:t>O webinar mostra, com o case real da Klabin, como construir a fundação de dados governada no SAP Datasphere que sustenta uma IA que realmente funciona — em vez de mais um piloto que não sai do papel.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2. CONTEXTO E STATUS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Onde estamos agora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8366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Case Klabin confirmado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83664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Autorização de uso do case confirmada em 02/09/2026. Falta validar escopo exato de dados/citações.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15184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70048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Budget aprovado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70048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R$ 2.000 em anúncios (verba SAP), destinados a ads pagos de reforço.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5643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Nome e mensagem definidos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"Data-First: como a Klabin construiu a fundação para IA no SAP Datasphere".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87952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61104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Lançamento institucional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42816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08/09/2026 — SAP NOW AI Tour (presencial).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74336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47488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Lançamento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29200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14/09/2026 — redes sociais + início da campanha paga.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60720"/>
            <a:ext cx="10881360" cy="71323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Montserrat"/>
              </a:rPr>
              <a:t>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1558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Responsáveis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815584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Ainda não atribuídos por atividade — pendência principal do plano.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3. PÚBLICO-ALVO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Três personas, um convite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38728" cy="4206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081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4FF96"/>
                </a:solidFill>
                <a:latin typeface="Montserrat"/>
              </a:rPr>
              <a:t>DECISOR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081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ompt"/>
              </a:rPr>
              <a:t>CIO / Diretor de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308152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B8C0D4"/>
                </a:solidFill>
                <a:latin typeface="Montserrat"/>
              </a:rPr>
              <a:t>Pressão para entregar IA sem fundação pronta. Motivação: não virar um dos 42% que abandonam projetos de 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38728" cy="4206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81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4FF96"/>
                </a:solidFill>
                <a:latin typeface="Montserrat"/>
              </a:rPr>
              <a:t>INFLUENCIADOR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81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ompt"/>
              </a:rPr>
              <a:t>Head de Dados / Analytics / BI / Arquiteto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8152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B8C0D4"/>
                </a:solidFill>
                <a:latin typeface="Montserrat"/>
              </a:rPr>
              <a:t>Time sênior apagando incêndio em vez de construir. Motivação: recuperar tempo e mostrar fundação pronta ao CIO.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538728" cy="4206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081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4FF96"/>
                </a:solidFill>
                <a:latin typeface="Montserrat"/>
              </a:rPr>
              <a:t>INFLUENCIADOR DE NEGÓCIO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3081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ompt"/>
              </a:rPr>
              <a:t>Responsável por Transformação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29000"/>
            <a:ext cx="308152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B8C0D4"/>
                </a:solidFill>
                <a:latin typeface="Montserrat"/>
              </a:rPr>
              <a:t>Cobrança por resultado de IA em prazo curto. Motivação: case replicável (Klabin) para levar ao 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4. OFERTA E MENSAGEM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 que oferecemos e por que acreditar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OFERTA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SAP Datasphere / SAP Business Data Cloud (BDC), com o Solve Watch (cuidado contínuo da fundação) como CTA principal via Diagnóstico do ambiente Datasphere.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PROVA / AUTORIDADE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5303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Melhor Parceiro SAP BDC da América Latina (2026) · SAP Gold Partner · +200 clientes · +400 projetos · +600 mil horas · case real e verificável da Klabin.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KEY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"Antes da IA, vêm os dados. A Klabin construiu a fundação certa no SAP Datasphere — e é isso que separa quem usa IA de verdade de quem só demonstra."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CTA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86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Inscrição no webinar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34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CTA SQL (pós-evento)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5488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Agendar o Diagnóstico do ambiente Datasphere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5. ESTRUTURA DO WEBINAR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Roteiro de 50 minutos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Abertura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3794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Boas-vindas, contexto, apresentação Solveplan + Klabin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83794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3230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01 · Os desafios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3230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A IA que não funciona — taxa de abandono (42%), enquete de abertura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43230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6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2666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02 · O diagnóstico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2666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Por que falha — 3 das 4 causas vivem na fundação, não no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02666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7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03 · A prova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2102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Arquitetura SAP BDC, Knowledge Graph, IA agêntica com humano no centro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62102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8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1538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Case Klabin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21538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Como a Klabin estruturou a fundação de dados no Datasphere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21538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10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0974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04 · O caminho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80974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Delta Sharing, camada semântica, o atalho que sai caro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80974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6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4924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0410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05 · O dia seguinte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0410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Quem cuida da fundação — a resposta: Solve Watch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40410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6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43600"/>
            <a:ext cx="10881360" cy="53035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99846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94FF96"/>
                </a:solidFill>
                <a:latin typeface="Montserrat"/>
              </a:rPr>
              <a:t>Fechamento + CTA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998464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Convite para o Diagnóstico, QR code, perguntas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5998464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50" b="1">
                <a:solidFill>
                  <a:srgbClr val="B8C0D4"/>
                </a:solidFill>
                <a:latin typeface="Montserrat"/>
              </a:rPr>
              <a:t>4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6. CRONOGRAMA DE LANÇAMENTO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Da campanha ao webinar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08/09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5623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Lançamento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7452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SAP NOW AI Tour — anúncio presencial, captação de contatos, registro para redes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14/09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8775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Lançamento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0604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Redes sociais (LinkedIn orgânico) + início dos ads pagos + 1º e-mail de convite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6499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21/09 a 12/10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1927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Reforço e ABM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33756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Reforço semanal LinkedIn/e-mail + outreach direto para contas estratégicas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4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19/10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Lembrete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06908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Última chamada por e-mail e LinkedIn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21/10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8231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Webinar ao vivo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80060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10h às 10h50 — realização do evento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5955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Prompt"/>
              </a:rPr>
              <a:t>22/10 a 28/10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513832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Follow-up e relatório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53212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0D4"/>
                </a:solidFill>
                <a:latin typeface="Montserrat"/>
              </a:rPr>
              <a:t>Contato com leads (SLA 24-48h), reunião de resultado, relatório de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7. CANAIS E FORMATOS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Onde a mensagem chega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LinkedIn orgânico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3852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Posts de lançamento, bastidores do SAP NOW, reforço semanal com prova social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LinkedIn pago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0720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Ads de conversão / retargeting — reforço, não motor principal (budget limitado)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E-mail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7588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Convite segmentado (usuários Datasphere vs. não usuários) + reforços + lembrete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445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Outreach direto (ABM)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4456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Convite personalizado para contas estratégicas via SDR/CS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132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Evento presencial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41324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SAP NOW AI Tour (08/09) — lançamento institucional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8. METAS DE SUCESSO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 funil que sustenta o resultado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084831" cy="237744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0848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94FF96"/>
                </a:solidFill>
                <a:latin typeface="Prompt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Inscritos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1" y="2103120"/>
            <a:ext cx="2084831" cy="237744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1" y="2423160"/>
            <a:ext cx="20848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94FF96"/>
                </a:solidFill>
                <a:latin typeface="Prompt"/>
              </a:rPr>
              <a:t>~30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Leads qualificados (30%)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2" y="2103120"/>
            <a:ext cx="2084831" cy="237744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2" y="2423160"/>
            <a:ext cx="20848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94FF96"/>
                </a:solidFill>
                <a:latin typeface="Prompt"/>
              </a:rPr>
              <a:t>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2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Reuniões geradas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8893" y="2103120"/>
            <a:ext cx="2084831" cy="237744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3" y="2423160"/>
            <a:ext cx="20848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94FF96"/>
                </a:solidFill>
                <a:latin typeface="Prompt"/>
              </a:rPr>
              <a:t>2+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3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Oportunidades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4" y="2103120"/>
            <a:ext cx="2084831" cy="237744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4" y="2423160"/>
            <a:ext cx="20848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94FF96"/>
                </a:solidFill>
                <a:latin typeface="Prompt"/>
              </a:rPr>
              <a:t>R$ 440K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4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Pipeline esperado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C0D4"/>
                </a:solidFill>
                <a:latin typeface="Montserrat"/>
              </a:rPr>
              <a:t>Nota: meta de leads qualificados ajustada de 70% para 30% dos inscritos — a divulgação é aberta (ads pagos), não lista curada/ABM, e o benchmark de qualificação nesse cenário é mais conservador.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9.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R$ 2.000 em verba SAP — onde vai o investimento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Mídia paga (LinkedIn Ads)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5740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Montserrat"/>
              </a:rPr>
              <a:t>R$ 2.000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Produção de peças (landing page, copy, banners)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889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Montserrat"/>
              </a:rPr>
              <a:t>R$ 0 (interno)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Ferramenta / plataforma de webinar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52044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Montserrat"/>
              </a:rPr>
              <a:t>A definir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Presença no SAP NOW AI 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5196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94FF96"/>
                </a:solidFill>
                <a:latin typeface="Montserrat"/>
              </a:rPr>
              <a:t>Não contabilizado (custo institucional)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8C0D4"/>
                </a:solidFill>
                <a:latin typeface="Montserrat"/>
              </a:rPr>
              <a:t>Atenção: budget de ads é baixo para o público C-level. O motor principal de inscrição deve ser e-mail direto para a base própria + outreach comercial (ABM), com o ads como reforço de alcance.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10. PEÇAS NECESSÁRIAS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 que precisa ser produzido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Landing page + formulário de inscrição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Post de lançamento (SAP NOW AI Tour)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Post de lançamento (redes sociais, 14/09)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Posts de reforço semanal (5-6 posts)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Banner/criativo para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E-mail de convite (segmentado)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E-mails de reforço (3x) + lembrete final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Mensagem de outreach ABM personalizada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Apresentação do webinar (roteiro de 50 min)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FFFFFF"/>
                </a:solidFill>
                <a:latin typeface="Montserrat"/>
              </a:rPr>
              <a:t>•  One-page pós-evento (recap + CTA Diagnóstico)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11. INTEGRAÇÃO COMERCIAL E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Como o lead vira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SLA DE CONTATO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24-48h para leads quentes; fluxo normal para os demais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CRITÉRIO DE QUALIFICAÇÃO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Cargo do público-alvo (CIO, Head de Dados, gerente SAP, arquiteto de dados) + empresa usuária SAP + dor/urgência declarada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4FF96"/>
                </a:solidFill>
                <a:latin typeface="Montserrat"/>
              </a:rPr>
              <a:t>KPIS ACOMPANHADOS SEMANALMENTE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Leads (inscritos)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70916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937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Reuniões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70916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937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CPL (custo por lead)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70916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Taxa de conversão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70916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0A0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937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940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B8C0D4"/>
                </a:solidFill>
                <a:latin typeface="Montserrat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4FF96"/>
                </a:solidFill>
                <a:latin typeface="Montserrat"/>
              </a:rPr>
              <a:t>12.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rompt"/>
              </a:rPr>
              <a:t>O que falta decidir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391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Validar com a Klabin o escopo exato de dados/citações do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15184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3405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3405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Definir responsáveis por atividade (hoje 'a definir' em todo o plano)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Escolher e configurar a plataforma de webinar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05072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2394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Criar landing page, formulário e configurar UTM/CRM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0016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1888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188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Treinar o time comercial (abordagem, qualificação, follow-up)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10881360" cy="621792"/>
          </a:xfrm>
          <a:prstGeom prst="roundRect">
            <a:avLst>
              <a:gd name="adj" fmla="val 4000"/>
            </a:avLst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13832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4FF96"/>
                </a:solidFill>
                <a:latin typeface="Prompt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138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Produzir as peças de lançamento para 08/09 (SAP NOW AI Tour)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77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Prompt"/>
              </a:rPr>
              <a:t>Antes da IA, vêm os 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B8C0D4"/>
                </a:solidFill>
                <a:latin typeface="Montserrat"/>
              </a:rPr>
              <a:t>21 de outubro de 2026 · 10h-10h50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